
<file path=[Content_Types].xml><?xml version="1.0" encoding="utf-8"?>
<Types xmlns="http://schemas.openxmlformats.org/package/2006/content-types">
  <Default Extension="bin" ContentType="application/vnd.openxmlformats-officedocument.oleObject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libri (MS)" panose="020B0604020202020204" charset="0"/>
      <p:regular r:id="rId15"/>
    </p:embeddedFont>
    <p:embeddedFont>
      <p:font typeface="Calibri (MS) Italics" panose="020B0604020202020204" charset="0"/>
      <p:regular r:id="rId16"/>
    </p:embeddedFont>
    <p:embeddedFont>
      <p:font typeface="Consolas" panose="020B0609020204030204" pitchFamily="49" charset="0"/>
      <p:regular r:id="rId17"/>
      <p:bold r:id="rId18"/>
      <p:italic r:id="rId19"/>
      <p:boldItalic r:id="rId20"/>
    </p:embeddedFont>
    <p:embeddedFont>
      <p:font typeface="Trebuchet MS" panose="020B0603020202020204" pitchFamily="34" charset="0"/>
      <p:regular r:id="rId21"/>
      <p:bold r:id="rId22"/>
      <p:italic r:id="rId23"/>
      <p:boldItalic r:id="rId24"/>
    </p:embeddedFont>
    <p:embeddedFont>
      <p:font typeface="Trebuchet MS Bold" panose="020B0703020202020204" pitchFamily="34" charset="0"/>
      <p:regular r:id="rId25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25.03.2026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oleObject" Target="../embeddings/oleObject1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91440"/>
            <a:chOff x="0" y="0"/>
            <a:chExt cx="24384000" cy="121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2586C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463040" y="1280160"/>
            <a:ext cx="15361920" cy="3657600"/>
            <a:chOff x="0" y="0"/>
            <a:chExt cx="20482560" cy="4876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482561" cy="4876800"/>
            </a:xfrm>
            <a:custGeom>
              <a:avLst/>
              <a:gdLst/>
              <a:ahLst/>
              <a:cxnLst/>
              <a:rect l="l" t="t" r="r" b="b"/>
              <a:pathLst>
                <a:path w="20482561" h="4876800">
                  <a:moveTo>
                    <a:pt x="0" y="0"/>
                  </a:moveTo>
                  <a:lnTo>
                    <a:pt x="20482561" y="0"/>
                  </a:lnTo>
                  <a:lnTo>
                    <a:pt x="20482561" y="4876800"/>
                  </a:lnTo>
                  <a:lnTo>
                    <a:pt x="0" y="4876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1837" b="-3183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0482560" cy="49244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0080"/>
                </a:lnSpc>
              </a:pPr>
              <a:r>
                <a:rPr lang="en-US" sz="80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Lightweight Reversible</a:t>
              </a:r>
            </a:p>
            <a:p>
              <a:pPr algn="l">
                <a:lnSpc>
                  <a:spcPts val="10080"/>
                </a:lnSpc>
              </a:pPr>
              <a:r>
                <a:rPr lang="en-US" sz="80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Data Perturbation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63040" y="4663440"/>
            <a:ext cx="15361920" cy="1005840"/>
            <a:chOff x="0" y="0"/>
            <a:chExt cx="20482560" cy="13411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482561" cy="1341120"/>
            </a:xfrm>
            <a:custGeom>
              <a:avLst/>
              <a:gdLst/>
              <a:ahLst/>
              <a:cxnLst/>
              <a:rect l="l" t="t" r="r" b="b"/>
              <a:pathLst>
                <a:path w="20482561" h="1341120">
                  <a:moveTo>
                    <a:pt x="0" y="0"/>
                  </a:moveTo>
                  <a:lnTo>
                    <a:pt x="20482561" y="0"/>
                  </a:lnTo>
                  <a:lnTo>
                    <a:pt x="20482561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7589" b="-247589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20482560" cy="14173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60"/>
                </a:lnSpc>
              </a:pPr>
              <a:r>
                <a:rPr lang="en-US" sz="3800" i="1">
                  <a:solidFill>
                    <a:srgbClr val="A8C4E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for Privacy Preservation in IIoT Modbus Systems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3040" y="6126480"/>
            <a:ext cx="4023360" cy="64008"/>
            <a:chOff x="0" y="0"/>
            <a:chExt cx="5364480" cy="853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364480" cy="85344"/>
            </a:xfrm>
            <a:custGeom>
              <a:avLst/>
              <a:gdLst/>
              <a:ahLst/>
              <a:cxnLst/>
              <a:rect l="l" t="t" r="r" b="b"/>
              <a:pathLst>
                <a:path w="5364480" h="85344">
                  <a:moveTo>
                    <a:pt x="0" y="0"/>
                  </a:moveTo>
                  <a:lnTo>
                    <a:pt x="5364480" y="0"/>
                  </a:lnTo>
                  <a:lnTo>
                    <a:pt x="5364480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2586C4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463040" y="6583680"/>
            <a:ext cx="15361920" cy="731520"/>
            <a:chOff x="0" y="0"/>
            <a:chExt cx="20482560" cy="97536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0482561" cy="975360"/>
            </a:xfrm>
            <a:custGeom>
              <a:avLst/>
              <a:gdLst/>
              <a:ahLst/>
              <a:cxnLst/>
              <a:rect l="l" t="t" r="r" b="b"/>
              <a:pathLst>
                <a:path w="20482561" h="975360">
                  <a:moveTo>
                    <a:pt x="0" y="0"/>
                  </a:moveTo>
                  <a:lnTo>
                    <a:pt x="20482561" y="0"/>
                  </a:lnTo>
                  <a:lnTo>
                    <a:pt x="20482561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9185" b="-359185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20482560" cy="9848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>
                  <a:solidFill>
                    <a:srgbClr val="D98B2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Progress Report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63040" y="7315200"/>
            <a:ext cx="15361920" cy="1626171"/>
            <a:chOff x="0" y="0"/>
            <a:chExt cx="20482560" cy="21682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0482561" cy="2168228"/>
            </a:xfrm>
            <a:custGeom>
              <a:avLst/>
              <a:gdLst/>
              <a:ahLst/>
              <a:cxnLst/>
              <a:rect l="l" t="t" r="r" b="b"/>
              <a:pathLst>
                <a:path w="20482561" h="2168228">
                  <a:moveTo>
                    <a:pt x="0" y="0"/>
                  </a:moveTo>
                  <a:lnTo>
                    <a:pt x="20482561" y="0"/>
                  </a:lnTo>
                  <a:lnTo>
                    <a:pt x="20482561" y="2168228"/>
                  </a:lnTo>
                  <a:lnTo>
                    <a:pt x="0" y="21682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9084" b="-12905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20482560" cy="22253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8C4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Rabbi Hasan Himel  |  Tayyaba Basri  |  Hamza Haroon</a:t>
              </a:r>
            </a:p>
            <a:p>
              <a:pPr algn="l">
                <a:lnSpc>
                  <a:spcPts val="3120"/>
                </a:lnSpc>
              </a:pPr>
              <a:endParaRPr lang="en-US" sz="2600">
                <a:solidFill>
                  <a:srgbClr val="A8C4E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9CA3A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Supervisor: Doç. Dr. Emrullah Fatih Yetkin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823237" y="9258300"/>
            <a:ext cx="15361920" cy="548640"/>
            <a:chOff x="0" y="0"/>
            <a:chExt cx="20482560" cy="73152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482561" cy="731520"/>
            </a:xfrm>
            <a:custGeom>
              <a:avLst/>
              <a:gdLst/>
              <a:ahLst/>
              <a:cxnLst/>
              <a:rect l="l" t="t" r="r" b="b"/>
              <a:pathLst>
                <a:path w="20482561" h="731520">
                  <a:moveTo>
                    <a:pt x="0" y="0"/>
                  </a:moveTo>
                  <a:lnTo>
                    <a:pt x="20482561" y="0"/>
                  </a:lnTo>
                  <a:lnTo>
                    <a:pt x="20482561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5581" b="-495581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48256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endParaRPr lang="en-US" sz="2000" dirty="0">
                <a:solidFill>
                  <a:srgbClr val="6B7F96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48640"/>
            <a:ext cx="16093440" cy="1188720"/>
            <a:chOff x="0" y="0"/>
            <a:chExt cx="2145792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584960"/>
            </a:xfrm>
            <a:custGeom>
              <a:avLst/>
              <a:gdLst/>
              <a:ahLst/>
              <a:cxnLst/>
              <a:rect l="l" t="t" r="r" b="b"/>
              <a:pathLst>
                <a:path w="21457920" h="158496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797" b="-21379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Problem &amp; Motivation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25167" y="2371087"/>
            <a:ext cx="8059417" cy="6413497"/>
            <a:chOff x="0" y="0"/>
            <a:chExt cx="10745889" cy="8551329"/>
          </a:xfrm>
        </p:grpSpPr>
        <p:sp>
          <p:nvSpPr>
            <p:cNvPr id="6" name="Freeform 6"/>
            <p:cNvSpPr/>
            <p:nvPr/>
          </p:nvSpPr>
          <p:spPr>
            <a:xfrm>
              <a:off x="8509" y="8509"/>
              <a:ext cx="10728960" cy="8534400"/>
            </a:xfrm>
            <a:custGeom>
              <a:avLst/>
              <a:gdLst/>
              <a:ahLst/>
              <a:cxnLst/>
              <a:rect l="l" t="t" r="r" b="b"/>
              <a:pathLst>
                <a:path w="10728960" h="853440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0745978" cy="8551418"/>
            </a:xfrm>
            <a:custGeom>
              <a:avLst/>
              <a:gdLst/>
              <a:ahLst/>
              <a:cxnLst/>
              <a:rect l="l" t="t" r="r" b="b"/>
              <a:pathLst>
                <a:path w="10745978" h="855141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8542909"/>
                  </a:lnTo>
                  <a:cubicBezTo>
                    <a:pt x="10745978" y="8547608"/>
                    <a:pt x="10742168" y="8551418"/>
                    <a:pt x="10737469" y="8551418"/>
                  </a:cubicBezTo>
                  <a:lnTo>
                    <a:pt x="8509" y="8551418"/>
                  </a:lnTo>
                  <a:cubicBezTo>
                    <a:pt x="3810" y="8551418"/>
                    <a:pt x="0" y="8547608"/>
                    <a:pt x="0" y="8542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542909"/>
                  </a:lnTo>
                  <a:lnTo>
                    <a:pt x="8509" y="8542909"/>
                  </a:lnTo>
                  <a:lnTo>
                    <a:pt x="8509" y="8534400"/>
                  </a:lnTo>
                  <a:lnTo>
                    <a:pt x="10737469" y="8534400"/>
                  </a:lnTo>
                  <a:lnTo>
                    <a:pt x="10737469" y="8542909"/>
                  </a:lnTo>
                  <a:lnTo>
                    <a:pt x="10728960" y="854290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D9E2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31520" y="2377440"/>
            <a:ext cx="128016" cy="6400800"/>
            <a:chOff x="0" y="0"/>
            <a:chExt cx="170688" cy="8534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70688" cy="8534400"/>
            </a:xfrm>
            <a:custGeom>
              <a:avLst/>
              <a:gdLst/>
              <a:ahLst/>
              <a:cxnLst/>
              <a:rect l="l" t="t" r="r" b="b"/>
              <a:pathLst>
                <a:path w="170688" h="8534400">
                  <a:moveTo>
                    <a:pt x="0" y="0"/>
                  </a:moveTo>
                  <a:lnTo>
                    <a:pt x="170688" y="0"/>
                  </a:lnTo>
                  <a:lnTo>
                    <a:pt x="170688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E04B3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188720" y="2560320"/>
            <a:ext cx="7315200" cy="585216"/>
            <a:chOff x="0" y="0"/>
            <a:chExt cx="9753600" cy="7802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753600" cy="780288"/>
            </a:xfrm>
            <a:custGeom>
              <a:avLst/>
              <a:gdLst/>
              <a:ahLst/>
              <a:cxnLst/>
              <a:rect l="l" t="t" r="r" b="b"/>
              <a:pathLst>
                <a:path w="9753600" h="780288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9753600" cy="780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E04B3A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The Problem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97280" y="2560320"/>
            <a:ext cx="7406640" cy="5303520"/>
            <a:chOff x="0" y="0"/>
            <a:chExt cx="9875520" cy="70713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875520" cy="7071360"/>
            </a:xfrm>
            <a:custGeom>
              <a:avLst/>
              <a:gdLst/>
              <a:ahLst/>
              <a:cxnLst/>
              <a:rect l="l" t="t" r="r" b="b"/>
              <a:pathLst>
                <a:path w="9875520" h="7071360">
                  <a:moveTo>
                    <a:pt x="0" y="0"/>
                  </a:moveTo>
                  <a:lnTo>
                    <a:pt x="9875520" y="0"/>
                  </a:lnTo>
                  <a:lnTo>
                    <a:pt x="9875520" y="7071360"/>
                  </a:lnTo>
                  <a:lnTo>
                    <a:pt x="0" y="7071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3723" r="-4001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9875520" cy="7128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27379" lvl="1" indent="-313689" algn="l">
                <a:lnSpc>
                  <a:spcPts val="3119"/>
                </a:lnSpc>
                <a:buFont typeface="Arial"/>
                <a:buChar char="•"/>
              </a:pPr>
              <a:r>
                <a:rPr lang="en-US" sz="25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IIoT sensor data transmitted to cloud in plaintext</a:t>
              </a:r>
            </a:p>
            <a:p>
              <a:pPr marL="627379" lvl="1" indent="-313689" algn="l">
                <a:lnSpc>
                  <a:spcPts val="3119"/>
                </a:lnSpc>
                <a:buFont typeface="Arial"/>
                <a:buChar char="•"/>
              </a:pPr>
              <a:r>
                <a:rPr lang="en-US" sz="25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Intercepted data can reveal how the factory operates.</a:t>
              </a:r>
            </a:p>
            <a:p>
              <a:pPr marL="627379" lvl="1" indent="-313689" algn="l">
                <a:lnSpc>
                  <a:spcPts val="3119"/>
                </a:lnSpc>
                <a:buFont typeface="Arial"/>
                <a:buChar char="•"/>
              </a:pPr>
              <a:r>
                <a:rPr lang="en-US" sz="25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Includes sensitive details like process settings and configurations.</a:t>
              </a:r>
            </a:p>
            <a:p>
              <a:pPr marL="627379" lvl="1" indent="-313689" algn="l">
                <a:lnSpc>
                  <a:spcPts val="3119"/>
                </a:lnSpc>
                <a:buFont typeface="Arial"/>
                <a:buChar char="•"/>
              </a:pPr>
              <a:r>
                <a:rPr lang="en-US" sz="25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Existing solutions (AES, TLS, HE) add latency unacceptable for real-time 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503407" y="2371087"/>
            <a:ext cx="8059417" cy="6413497"/>
            <a:chOff x="0" y="0"/>
            <a:chExt cx="10745889" cy="8551329"/>
          </a:xfrm>
        </p:grpSpPr>
        <p:sp>
          <p:nvSpPr>
            <p:cNvPr id="17" name="Freeform 17"/>
            <p:cNvSpPr/>
            <p:nvPr/>
          </p:nvSpPr>
          <p:spPr>
            <a:xfrm>
              <a:off x="8509" y="8509"/>
              <a:ext cx="10728960" cy="8534400"/>
            </a:xfrm>
            <a:custGeom>
              <a:avLst/>
              <a:gdLst/>
              <a:ahLst/>
              <a:cxnLst/>
              <a:rect l="l" t="t" r="r" b="b"/>
              <a:pathLst>
                <a:path w="10728960" h="8534400">
                  <a:moveTo>
                    <a:pt x="0" y="0"/>
                  </a:moveTo>
                  <a:lnTo>
                    <a:pt x="10728960" y="0"/>
                  </a:lnTo>
                  <a:lnTo>
                    <a:pt x="10728960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10745978" cy="8551418"/>
            </a:xfrm>
            <a:custGeom>
              <a:avLst/>
              <a:gdLst/>
              <a:ahLst/>
              <a:cxnLst/>
              <a:rect l="l" t="t" r="r" b="b"/>
              <a:pathLst>
                <a:path w="10745978" h="8551418">
                  <a:moveTo>
                    <a:pt x="8509" y="0"/>
                  </a:moveTo>
                  <a:lnTo>
                    <a:pt x="10737469" y="0"/>
                  </a:lnTo>
                  <a:cubicBezTo>
                    <a:pt x="10742168" y="0"/>
                    <a:pt x="10745978" y="3810"/>
                    <a:pt x="10745978" y="8509"/>
                  </a:cubicBezTo>
                  <a:lnTo>
                    <a:pt x="10745978" y="8542909"/>
                  </a:lnTo>
                  <a:cubicBezTo>
                    <a:pt x="10745978" y="8547608"/>
                    <a:pt x="10742168" y="8551418"/>
                    <a:pt x="10737469" y="8551418"/>
                  </a:cubicBezTo>
                  <a:lnTo>
                    <a:pt x="8509" y="8551418"/>
                  </a:lnTo>
                  <a:cubicBezTo>
                    <a:pt x="3810" y="8551418"/>
                    <a:pt x="0" y="8547608"/>
                    <a:pt x="0" y="85429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8542909"/>
                  </a:lnTo>
                  <a:lnTo>
                    <a:pt x="8509" y="8542909"/>
                  </a:lnTo>
                  <a:lnTo>
                    <a:pt x="8509" y="8534400"/>
                  </a:lnTo>
                  <a:lnTo>
                    <a:pt x="10737469" y="8534400"/>
                  </a:lnTo>
                  <a:lnTo>
                    <a:pt x="10737469" y="8542909"/>
                  </a:lnTo>
                  <a:lnTo>
                    <a:pt x="10728960" y="8542909"/>
                  </a:lnTo>
                  <a:lnTo>
                    <a:pt x="10728960" y="8509"/>
                  </a:lnTo>
                  <a:lnTo>
                    <a:pt x="10737469" y="8509"/>
                  </a:lnTo>
                  <a:lnTo>
                    <a:pt x="1073746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D9E2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9509760" y="2377440"/>
            <a:ext cx="128016" cy="6400800"/>
            <a:chOff x="0" y="0"/>
            <a:chExt cx="170688" cy="853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70688" cy="8534400"/>
            </a:xfrm>
            <a:custGeom>
              <a:avLst/>
              <a:gdLst/>
              <a:ahLst/>
              <a:cxnLst/>
              <a:rect l="l" t="t" r="r" b="b"/>
              <a:pathLst>
                <a:path w="170688" h="8534400">
                  <a:moveTo>
                    <a:pt x="0" y="0"/>
                  </a:moveTo>
                  <a:lnTo>
                    <a:pt x="170688" y="0"/>
                  </a:lnTo>
                  <a:lnTo>
                    <a:pt x="170688" y="8534400"/>
                  </a:lnTo>
                  <a:lnTo>
                    <a:pt x="0" y="8534400"/>
                  </a:lnTo>
                  <a:close/>
                </a:path>
              </a:pathLst>
            </a:custGeom>
            <a:solidFill>
              <a:srgbClr val="1B9E6D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966960" y="2560320"/>
            <a:ext cx="7315200" cy="585216"/>
            <a:chOff x="0" y="0"/>
            <a:chExt cx="9753600" cy="78028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9753600" cy="780288"/>
            </a:xfrm>
            <a:custGeom>
              <a:avLst/>
              <a:gdLst/>
              <a:ahLst/>
              <a:cxnLst/>
              <a:rect l="l" t="t" r="r" b="b"/>
              <a:pathLst>
                <a:path w="9753600" h="780288">
                  <a:moveTo>
                    <a:pt x="0" y="0"/>
                  </a:moveTo>
                  <a:lnTo>
                    <a:pt x="9753600" y="0"/>
                  </a:lnTo>
                  <a:lnTo>
                    <a:pt x="975360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3562" b="-19356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9753600" cy="780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1B9E6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Our Goal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966960" y="3200400"/>
            <a:ext cx="7132320" cy="5303520"/>
            <a:chOff x="0" y="0"/>
            <a:chExt cx="9509760" cy="70713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9509760" cy="7071360"/>
            </a:xfrm>
            <a:custGeom>
              <a:avLst/>
              <a:gdLst/>
              <a:ahLst/>
              <a:cxnLst/>
              <a:rect l="l" t="t" r="r" b="b"/>
              <a:pathLst>
                <a:path w="9509760" h="7071360">
                  <a:moveTo>
                    <a:pt x="0" y="0"/>
                  </a:moveTo>
                  <a:lnTo>
                    <a:pt x="9509760" y="0"/>
                  </a:lnTo>
                  <a:lnTo>
                    <a:pt x="9509760" y="7071360"/>
                  </a:lnTo>
                  <a:lnTo>
                    <a:pt x="0" y="7071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5405" r="-4540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9509760" cy="71285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51508" lvl="1" indent="-325754" algn="l">
                <a:lnSpc>
                  <a:spcPts val="3239"/>
                </a:lnSpc>
                <a:buFont typeface="Arial"/>
                <a:buChar char="•"/>
              </a:pPr>
              <a:r>
                <a:rPr lang="en-US" sz="26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measure and compare the accuracy and privacy loss caused by each purturbation method.</a:t>
              </a:r>
            </a:p>
            <a:p>
              <a:pPr marL="651508" lvl="1" indent="-325754" algn="l">
                <a:lnSpc>
                  <a:spcPts val="3239"/>
                </a:lnSpc>
                <a:buFont typeface="Arial"/>
                <a:buChar char="•"/>
              </a:pPr>
              <a:r>
                <a:rPr lang="en-US" sz="26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 apply multiple purturbation methods such as XOR and Gaussian noise on the same dataset</a:t>
              </a:r>
            </a:p>
            <a:p>
              <a:pPr marL="651508" lvl="1" indent="-325754" algn="l">
                <a:lnSpc>
                  <a:spcPts val="3239"/>
                </a:lnSpc>
                <a:buFont typeface="Arial"/>
                <a:buChar char="•"/>
              </a:pPr>
              <a:r>
                <a:rPr lang="en-US" sz="26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Enable safe public dataset release for cybersecurity research</a:t>
              </a:r>
            </a:p>
            <a:p>
              <a:pPr marL="651508" lvl="1" indent="-325754" algn="l">
                <a:lnSpc>
                  <a:spcPts val="3239"/>
                </a:lnSpc>
                <a:buFont typeface="Arial"/>
                <a:buChar char="•"/>
              </a:pPr>
              <a:r>
                <a:rPr lang="en-US" sz="26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 Gaussian noise and XOR 16 and 64 bits</a:t>
              </a:r>
            </a:p>
            <a:p>
              <a:pPr algn="l">
                <a:lnSpc>
                  <a:spcPts val="2879"/>
                </a:lnSpc>
              </a:pPr>
              <a:endParaRPr lang="en-US" sz="2699">
                <a:solidFill>
                  <a:srgbClr val="3C3C3C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48640"/>
            <a:ext cx="16093440" cy="1188720"/>
            <a:chOff x="0" y="0"/>
            <a:chExt cx="2145792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584960"/>
            </a:xfrm>
            <a:custGeom>
              <a:avLst/>
              <a:gdLst/>
              <a:ahLst/>
              <a:cxnLst/>
              <a:rect l="l" t="t" r="r" b="b"/>
              <a:pathLst>
                <a:path w="21457920" h="158496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797" b="-21379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Dataset: TON_IoT Modbus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785374" y="1737360"/>
            <a:ext cx="17185984" cy="7013210"/>
          </a:xfrm>
          <a:custGeom>
            <a:avLst/>
            <a:gdLst/>
            <a:ahLst/>
            <a:cxnLst/>
            <a:rect l="l" t="t" r="r" b="b"/>
            <a:pathLst>
              <a:path w="17185984" h="7013210">
                <a:moveTo>
                  <a:pt x="0" y="0"/>
                </a:moveTo>
                <a:lnTo>
                  <a:pt x="17185984" y="0"/>
                </a:lnTo>
                <a:lnTo>
                  <a:pt x="17185984" y="7013210"/>
                </a:lnTo>
                <a:lnTo>
                  <a:pt x="0" y="70132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141"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48640"/>
            <a:ext cx="16093440" cy="1188720"/>
            <a:chOff x="0" y="0"/>
            <a:chExt cx="2145792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584960"/>
            </a:xfrm>
            <a:custGeom>
              <a:avLst/>
              <a:gdLst/>
              <a:ahLst/>
              <a:cxnLst/>
              <a:rect l="l" t="t" r="r" b="b"/>
              <a:pathLst>
                <a:path w="21457920" h="158496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797" b="-21379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Our Approach: XOR-Based RDP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24840" y="2636520"/>
            <a:ext cx="5425440" cy="6339840"/>
            <a:chOff x="0" y="0"/>
            <a:chExt cx="7233920" cy="8453120"/>
          </a:xfrm>
        </p:grpSpPr>
        <p:sp>
          <p:nvSpPr>
            <p:cNvPr id="6" name="Freeform 6"/>
            <p:cNvSpPr/>
            <p:nvPr/>
          </p:nvSpPr>
          <p:spPr>
            <a:xfrm>
              <a:off x="20320" y="20320"/>
              <a:ext cx="7193280" cy="8412480"/>
            </a:xfrm>
            <a:custGeom>
              <a:avLst/>
              <a:gdLst/>
              <a:ahLst/>
              <a:cxnLst/>
              <a:rect l="l" t="t" r="r" b="b"/>
              <a:pathLst>
                <a:path w="7193280" h="8412480">
                  <a:moveTo>
                    <a:pt x="0" y="0"/>
                  </a:moveTo>
                  <a:lnTo>
                    <a:pt x="7193280" y="0"/>
                  </a:lnTo>
                  <a:lnTo>
                    <a:pt x="719328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7233920" cy="8453120"/>
            </a:xfrm>
            <a:custGeom>
              <a:avLst/>
              <a:gdLst/>
              <a:ahLst/>
              <a:cxnLst/>
              <a:rect l="l" t="t" r="r" b="b"/>
              <a:pathLst>
                <a:path w="7233920" h="8453120">
                  <a:moveTo>
                    <a:pt x="20320" y="0"/>
                  </a:moveTo>
                  <a:lnTo>
                    <a:pt x="7213600" y="0"/>
                  </a:lnTo>
                  <a:cubicBezTo>
                    <a:pt x="7224776" y="0"/>
                    <a:pt x="7233920" y="9144"/>
                    <a:pt x="7233920" y="20320"/>
                  </a:cubicBezTo>
                  <a:lnTo>
                    <a:pt x="7233920" y="8432800"/>
                  </a:lnTo>
                  <a:cubicBezTo>
                    <a:pt x="7233920" y="8443976"/>
                    <a:pt x="7224776" y="8453120"/>
                    <a:pt x="7213600" y="8453120"/>
                  </a:cubicBezTo>
                  <a:lnTo>
                    <a:pt x="20320" y="8453120"/>
                  </a:lnTo>
                  <a:cubicBezTo>
                    <a:pt x="9144" y="8453120"/>
                    <a:pt x="0" y="8443976"/>
                    <a:pt x="0" y="843280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8432800"/>
                  </a:lnTo>
                  <a:lnTo>
                    <a:pt x="20320" y="8432800"/>
                  </a:lnTo>
                  <a:lnTo>
                    <a:pt x="20320" y="8412480"/>
                  </a:lnTo>
                  <a:lnTo>
                    <a:pt x="7213600" y="8412480"/>
                  </a:lnTo>
                  <a:lnTo>
                    <a:pt x="7213600" y="8432800"/>
                  </a:lnTo>
                  <a:lnTo>
                    <a:pt x="7193280" y="8432800"/>
                  </a:lnTo>
                  <a:lnTo>
                    <a:pt x="7193280" y="20320"/>
                  </a:lnTo>
                  <a:lnTo>
                    <a:pt x="7213600" y="20320"/>
                  </a:lnTo>
                  <a:lnTo>
                    <a:pt x="721360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2586C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40080" y="2651760"/>
            <a:ext cx="5394960" cy="914400"/>
            <a:chOff x="0" y="0"/>
            <a:chExt cx="7193280" cy="12192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193280" cy="1219200"/>
            </a:xfrm>
            <a:custGeom>
              <a:avLst/>
              <a:gdLst/>
              <a:ahLst/>
              <a:cxnLst/>
              <a:rect l="l" t="t" r="r" b="b"/>
              <a:pathLst>
                <a:path w="7193280" h="121920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2586C4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640080" y="2651760"/>
            <a:ext cx="5394960" cy="914400"/>
            <a:chOff x="0" y="0"/>
            <a:chExt cx="7193280" cy="1219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193280" cy="1219200"/>
            </a:xfrm>
            <a:custGeom>
              <a:avLst/>
              <a:gdLst/>
              <a:ahLst/>
              <a:cxnLst/>
              <a:rect l="l" t="t" r="r" b="b"/>
              <a:pathLst>
                <a:path w="7193280" h="121920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961" b="-64961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0"/>
              <a:ext cx="71932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Factory / Edge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05840" y="3840480"/>
            <a:ext cx="4663440" cy="4754880"/>
            <a:chOff x="0" y="0"/>
            <a:chExt cx="6217920" cy="63398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17920" cy="6339840"/>
            </a:xfrm>
            <a:custGeom>
              <a:avLst/>
              <a:gdLst/>
              <a:ahLst/>
              <a:cxnLst/>
              <a:rect l="l" t="t" r="r" b="b"/>
              <a:pathLst>
                <a:path w="6217920" h="6339840">
                  <a:moveTo>
                    <a:pt x="0" y="0"/>
                  </a:moveTo>
                  <a:lnTo>
                    <a:pt x="6217920" y="0"/>
                  </a:lnTo>
                  <a:lnTo>
                    <a:pt x="6217920" y="6339840"/>
                  </a:lnTo>
                  <a:lnTo>
                    <a:pt x="0" y="6339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819" r="-80819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42875"/>
              <a:ext cx="6217920" cy="64827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7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Applies XOR with PRNG</a:t>
              </a:r>
            </a:p>
            <a:p>
              <a:pPr algn="ctr">
                <a:lnSpc>
                  <a:spcPts val="4199"/>
                </a:lnSpc>
              </a:pPr>
              <a:r>
                <a:rPr lang="en-US" sz="27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key stream (seed=999)</a:t>
              </a:r>
            </a:p>
            <a:p>
              <a:pPr algn="ctr">
                <a:lnSpc>
                  <a:spcPts val="4199"/>
                </a:lnSpc>
              </a:pPr>
              <a:endParaRPr lang="en-US" sz="2799">
                <a:solidFill>
                  <a:srgbClr val="3C3C3C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4199"/>
                </a:lnSpc>
              </a:pPr>
              <a:r>
                <a:rPr lang="en-US" sz="27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 scrambled before</a:t>
              </a:r>
            </a:p>
            <a:p>
              <a:pPr algn="ctr">
                <a:lnSpc>
                  <a:spcPts val="4199"/>
                </a:lnSpc>
              </a:pPr>
              <a:r>
                <a:rPr lang="en-US" sz="27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cloud transmission</a:t>
              </a:r>
            </a:p>
            <a:p>
              <a:pPr algn="ctr">
                <a:lnSpc>
                  <a:spcPts val="4199"/>
                </a:lnSpc>
              </a:pPr>
              <a:endParaRPr lang="en-US" sz="2799">
                <a:solidFill>
                  <a:srgbClr val="3C3C3C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4199"/>
                </a:lnSpc>
              </a:pPr>
              <a:r>
                <a:rPr lang="en-US" sz="27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Original registers become</a:t>
              </a:r>
            </a:p>
            <a:p>
              <a:pPr algn="ctr">
                <a:lnSpc>
                  <a:spcPts val="4199"/>
                </a:lnSpc>
              </a:pPr>
              <a:r>
                <a:rPr lang="en-US" sz="27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statistically random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477000" y="2636520"/>
            <a:ext cx="5425440" cy="6339840"/>
            <a:chOff x="0" y="0"/>
            <a:chExt cx="7233920" cy="8453120"/>
          </a:xfrm>
        </p:grpSpPr>
        <p:sp>
          <p:nvSpPr>
            <p:cNvPr id="17" name="Freeform 17"/>
            <p:cNvSpPr/>
            <p:nvPr/>
          </p:nvSpPr>
          <p:spPr>
            <a:xfrm>
              <a:off x="20320" y="20320"/>
              <a:ext cx="7193280" cy="8412480"/>
            </a:xfrm>
            <a:custGeom>
              <a:avLst/>
              <a:gdLst/>
              <a:ahLst/>
              <a:cxnLst/>
              <a:rect l="l" t="t" r="r" b="b"/>
              <a:pathLst>
                <a:path w="7193280" h="8412480">
                  <a:moveTo>
                    <a:pt x="0" y="0"/>
                  </a:moveTo>
                  <a:lnTo>
                    <a:pt x="7193280" y="0"/>
                  </a:lnTo>
                  <a:lnTo>
                    <a:pt x="719328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0"/>
              <a:ext cx="7233920" cy="8453120"/>
            </a:xfrm>
            <a:custGeom>
              <a:avLst/>
              <a:gdLst/>
              <a:ahLst/>
              <a:cxnLst/>
              <a:rect l="l" t="t" r="r" b="b"/>
              <a:pathLst>
                <a:path w="7233920" h="8453120">
                  <a:moveTo>
                    <a:pt x="20320" y="0"/>
                  </a:moveTo>
                  <a:lnTo>
                    <a:pt x="7213600" y="0"/>
                  </a:lnTo>
                  <a:cubicBezTo>
                    <a:pt x="7224776" y="0"/>
                    <a:pt x="7233920" y="9144"/>
                    <a:pt x="7233920" y="20320"/>
                  </a:cubicBezTo>
                  <a:lnTo>
                    <a:pt x="7233920" y="8432800"/>
                  </a:lnTo>
                  <a:cubicBezTo>
                    <a:pt x="7233920" y="8443976"/>
                    <a:pt x="7224776" y="8453120"/>
                    <a:pt x="7213600" y="8453120"/>
                  </a:cubicBezTo>
                  <a:lnTo>
                    <a:pt x="20320" y="8453120"/>
                  </a:lnTo>
                  <a:cubicBezTo>
                    <a:pt x="9144" y="8453120"/>
                    <a:pt x="0" y="8443976"/>
                    <a:pt x="0" y="843280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8432800"/>
                  </a:lnTo>
                  <a:lnTo>
                    <a:pt x="20320" y="8432800"/>
                  </a:lnTo>
                  <a:lnTo>
                    <a:pt x="20320" y="8412480"/>
                  </a:lnTo>
                  <a:lnTo>
                    <a:pt x="7213600" y="8412480"/>
                  </a:lnTo>
                  <a:lnTo>
                    <a:pt x="7213600" y="8432800"/>
                  </a:lnTo>
                  <a:lnTo>
                    <a:pt x="7193280" y="8432800"/>
                  </a:lnTo>
                  <a:lnTo>
                    <a:pt x="7193280" y="20320"/>
                  </a:lnTo>
                  <a:lnTo>
                    <a:pt x="7213600" y="20320"/>
                  </a:lnTo>
                  <a:lnTo>
                    <a:pt x="721360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E04B3A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6492240" y="2651760"/>
            <a:ext cx="5394960" cy="914400"/>
            <a:chOff x="0" y="0"/>
            <a:chExt cx="7193280" cy="12192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7193280" cy="1219200"/>
            </a:xfrm>
            <a:custGeom>
              <a:avLst/>
              <a:gdLst/>
              <a:ahLst/>
              <a:cxnLst/>
              <a:rect l="l" t="t" r="r" b="b"/>
              <a:pathLst>
                <a:path w="7193280" h="121920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E04B3A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6492240" y="2651760"/>
            <a:ext cx="5394960" cy="914400"/>
            <a:chOff x="0" y="0"/>
            <a:chExt cx="7193280" cy="12192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193280" cy="1219200"/>
            </a:xfrm>
            <a:custGeom>
              <a:avLst/>
              <a:gdLst/>
              <a:ahLst/>
              <a:cxnLst/>
              <a:rect l="l" t="t" r="r" b="b"/>
              <a:pathLst>
                <a:path w="7193280" h="121920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961" b="-64961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71932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Attacker (MitM)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812280" y="3657600"/>
            <a:ext cx="4663440" cy="4937760"/>
            <a:chOff x="0" y="0"/>
            <a:chExt cx="6217920" cy="65836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217920" cy="6583680"/>
            </a:xfrm>
            <a:custGeom>
              <a:avLst/>
              <a:gdLst/>
              <a:ahLst/>
              <a:cxnLst/>
              <a:rect l="l" t="t" r="r" b="b"/>
              <a:pathLst>
                <a:path w="6217920" h="6583680">
                  <a:moveTo>
                    <a:pt x="0" y="0"/>
                  </a:moveTo>
                  <a:lnTo>
                    <a:pt x="6217920" y="0"/>
                  </a:lnTo>
                  <a:lnTo>
                    <a:pt x="6217920" y="6583680"/>
                  </a:lnTo>
                  <a:lnTo>
                    <a:pt x="0" y="6583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819" r="-80819" b="3703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42875"/>
              <a:ext cx="6217920" cy="67265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199"/>
                </a:lnSpc>
              </a:pPr>
              <a:r>
                <a:rPr lang="en-US" sz="27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Intercepts encrypted stream</a:t>
              </a:r>
            </a:p>
            <a:p>
              <a:pPr algn="ctr">
                <a:lnSpc>
                  <a:spcPts val="4199"/>
                </a:lnSpc>
              </a:pPr>
              <a:r>
                <a:rPr lang="en-US" sz="27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Sees uniform noise</a:t>
              </a:r>
            </a:p>
            <a:p>
              <a:pPr algn="ctr">
                <a:lnSpc>
                  <a:spcPts val="4199"/>
                </a:lnSpc>
              </a:pPr>
              <a:r>
                <a:rPr lang="en-US" sz="27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pure random guessing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329160" y="2636520"/>
            <a:ext cx="5425440" cy="6339840"/>
            <a:chOff x="0" y="0"/>
            <a:chExt cx="7233920" cy="8453120"/>
          </a:xfrm>
        </p:grpSpPr>
        <p:sp>
          <p:nvSpPr>
            <p:cNvPr id="28" name="Freeform 28"/>
            <p:cNvSpPr/>
            <p:nvPr/>
          </p:nvSpPr>
          <p:spPr>
            <a:xfrm>
              <a:off x="20320" y="20320"/>
              <a:ext cx="7193280" cy="8412480"/>
            </a:xfrm>
            <a:custGeom>
              <a:avLst/>
              <a:gdLst/>
              <a:ahLst/>
              <a:cxnLst/>
              <a:rect l="l" t="t" r="r" b="b"/>
              <a:pathLst>
                <a:path w="7193280" h="8412480">
                  <a:moveTo>
                    <a:pt x="0" y="0"/>
                  </a:moveTo>
                  <a:lnTo>
                    <a:pt x="7193280" y="0"/>
                  </a:lnTo>
                  <a:lnTo>
                    <a:pt x="7193280" y="8412480"/>
                  </a:lnTo>
                  <a:lnTo>
                    <a:pt x="0" y="84124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7233920" cy="8453120"/>
            </a:xfrm>
            <a:custGeom>
              <a:avLst/>
              <a:gdLst/>
              <a:ahLst/>
              <a:cxnLst/>
              <a:rect l="l" t="t" r="r" b="b"/>
              <a:pathLst>
                <a:path w="7233920" h="8453120">
                  <a:moveTo>
                    <a:pt x="20320" y="0"/>
                  </a:moveTo>
                  <a:lnTo>
                    <a:pt x="7213600" y="0"/>
                  </a:lnTo>
                  <a:cubicBezTo>
                    <a:pt x="7224776" y="0"/>
                    <a:pt x="7233920" y="9144"/>
                    <a:pt x="7233920" y="20320"/>
                  </a:cubicBezTo>
                  <a:lnTo>
                    <a:pt x="7233920" y="8432800"/>
                  </a:lnTo>
                  <a:cubicBezTo>
                    <a:pt x="7233920" y="8443976"/>
                    <a:pt x="7224776" y="8453120"/>
                    <a:pt x="7213600" y="8453120"/>
                  </a:cubicBezTo>
                  <a:lnTo>
                    <a:pt x="20320" y="8453120"/>
                  </a:lnTo>
                  <a:cubicBezTo>
                    <a:pt x="9144" y="8453120"/>
                    <a:pt x="0" y="8443976"/>
                    <a:pt x="0" y="8432800"/>
                  </a:cubicBezTo>
                  <a:lnTo>
                    <a:pt x="0" y="20320"/>
                  </a:lnTo>
                  <a:cubicBezTo>
                    <a:pt x="0" y="9144"/>
                    <a:pt x="9144" y="0"/>
                    <a:pt x="20320" y="0"/>
                  </a:cubicBezTo>
                  <a:moveTo>
                    <a:pt x="20320" y="40640"/>
                  </a:moveTo>
                  <a:lnTo>
                    <a:pt x="20320" y="20320"/>
                  </a:lnTo>
                  <a:lnTo>
                    <a:pt x="40640" y="20320"/>
                  </a:lnTo>
                  <a:lnTo>
                    <a:pt x="40640" y="8432800"/>
                  </a:lnTo>
                  <a:lnTo>
                    <a:pt x="20320" y="8432800"/>
                  </a:lnTo>
                  <a:lnTo>
                    <a:pt x="20320" y="8412480"/>
                  </a:lnTo>
                  <a:lnTo>
                    <a:pt x="7213600" y="8412480"/>
                  </a:lnTo>
                  <a:lnTo>
                    <a:pt x="7213600" y="8432800"/>
                  </a:lnTo>
                  <a:lnTo>
                    <a:pt x="7193280" y="8432800"/>
                  </a:lnTo>
                  <a:lnTo>
                    <a:pt x="7193280" y="20320"/>
                  </a:lnTo>
                  <a:lnTo>
                    <a:pt x="7213600" y="20320"/>
                  </a:lnTo>
                  <a:lnTo>
                    <a:pt x="7213600" y="40640"/>
                  </a:lnTo>
                  <a:lnTo>
                    <a:pt x="20320" y="40640"/>
                  </a:lnTo>
                  <a:close/>
                </a:path>
              </a:pathLst>
            </a:custGeom>
            <a:solidFill>
              <a:srgbClr val="1B9E6D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2344400" y="2651760"/>
            <a:ext cx="5394960" cy="914400"/>
            <a:chOff x="0" y="0"/>
            <a:chExt cx="7193280" cy="1219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7193280" cy="1219200"/>
            </a:xfrm>
            <a:custGeom>
              <a:avLst/>
              <a:gdLst/>
              <a:ahLst/>
              <a:cxnLst/>
              <a:rect l="l" t="t" r="r" b="b"/>
              <a:pathLst>
                <a:path w="7193280" h="121920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B9E6D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12344400" y="2651760"/>
            <a:ext cx="5394960" cy="914400"/>
            <a:chOff x="0" y="0"/>
            <a:chExt cx="7193280" cy="12192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7193280" cy="1219200"/>
            </a:xfrm>
            <a:custGeom>
              <a:avLst/>
              <a:gdLst/>
              <a:ahLst/>
              <a:cxnLst/>
              <a:rect l="l" t="t" r="r" b="b"/>
              <a:pathLst>
                <a:path w="7193280" h="1219200">
                  <a:moveTo>
                    <a:pt x="0" y="0"/>
                  </a:moveTo>
                  <a:lnTo>
                    <a:pt x="7193280" y="0"/>
                  </a:lnTo>
                  <a:lnTo>
                    <a:pt x="71932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4961" b="-6496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71932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359"/>
                </a:lnSpc>
              </a:pPr>
              <a:r>
                <a:rPr lang="en-US" sz="2799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Trusted Cloud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2527280" y="3566160"/>
            <a:ext cx="4663440" cy="4754880"/>
            <a:chOff x="0" y="0"/>
            <a:chExt cx="6217920" cy="63398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6217920" cy="6339840"/>
            </a:xfrm>
            <a:custGeom>
              <a:avLst/>
              <a:gdLst/>
              <a:ahLst/>
              <a:cxnLst/>
              <a:rect l="l" t="t" r="r" b="b"/>
              <a:pathLst>
                <a:path w="6217920" h="6339840">
                  <a:moveTo>
                    <a:pt x="0" y="0"/>
                  </a:moveTo>
                  <a:lnTo>
                    <a:pt x="6217920" y="0"/>
                  </a:lnTo>
                  <a:lnTo>
                    <a:pt x="6217920" y="6339840"/>
                  </a:lnTo>
                  <a:lnTo>
                    <a:pt x="0" y="6339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0819" r="-80819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133350"/>
              <a:ext cx="6217920" cy="64731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049"/>
                </a:lnSpc>
              </a:pPr>
              <a:r>
                <a:rPr lang="en-US" sz="26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Regenerates same key</a:t>
              </a:r>
            </a:p>
            <a:p>
              <a:pPr algn="ctr">
                <a:lnSpc>
                  <a:spcPts val="4049"/>
                </a:lnSpc>
              </a:pPr>
              <a:r>
                <a:rPr lang="en-US" sz="26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stream from shared seed</a:t>
              </a:r>
            </a:p>
            <a:p>
              <a:pPr algn="ctr">
                <a:lnSpc>
                  <a:spcPts val="4049"/>
                </a:lnSpc>
              </a:pPr>
              <a:endParaRPr lang="en-US" sz="2699">
                <a:solidFill>
                  <a:srgbClr val="3C3C3C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4049"/>
                </a:lnSpc>
              </a:pPr>
              <a:r>
                <a:rPr lang="en-US" sz="26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XOR reversal → 100%</a:t>
              </a:r>
            </a:p>
            <a:p>
              <a:pPr algn="ctr">
                <a:lnSpc>
                  <a:spcPts val="4049"/>
                </a:lnSpc>
              </a:pPr>
              <a:r>
                <a:rPr lang="en-US" sz="26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perfect data recovery</a:t>
              </a:r>
            </a:p>
            <a:p>
              <a:pPr algn="ctr">
                <a:lnSpc>
                  <a:spcPts val="4049"/>
                </a:lnSpc>
              </a:pPr>
              <a:endParaRPr lang="en-US" sz="2699">
                <a:solidFill>
                  <a:srgbClr val="3C3C3C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  <a:p>
              <a:pPr algn="ctr">
                <a:lnSpc>
                  <a:spcPts val="4049"/>
                </a:lnSpc>
              </a:pPr>
              <a:r>
                <a:rPr lang="en-US" sz="26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Can publish restored data</a:t>
              </a:r>
            </a:p>
            <a:p>
              <a:pPr algn="ctr">
                <a:lnSpc>
                  <a:spcPts val="4049"/>
                </a:lnSpc>
              </a:pPr>
              <a:r>
                <a:rPr lang="en-US" sz="26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research use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76445" y="5637533"/>
            <a:ext cx="392687" cy="63503"/>
            <a:chOff x="0" y="0"/>
            <a:chExt cx="523583" cy="84671"/>
          </a:xfrm>
        </p:grpSpPr>
        <p:sp>
          <p:nvSpPr>
            <p:cNvPr id="39" name="Freeform 39"/>
            <p:cNvSpPr/>
            <p:nvPr/>
          </p:nvSpPr>
          <p:spPr>
            <a:xfrm>
              <a:off x="42291" y="0"/>
              <a:ext cx="438912" cy="84709"/>
            </a:xfrm>
            <a:custGeom>
              <a:avLst/>
              <a:gdLst/>
              <a:ahLst/>
              <a:cxnLst/>
              <a:rect l="l" t="t" r="r" b="b"/>
              <a:pathLst>
                <a:path w="438912" h="84709">
                  <a:moveTo>
                    <a:pt x="0" y="0"/>
                  </a:moveTo>
                  <a:lnTo>
                    <a:pt x="438912" y="0"/>
                  </a:lnTo>
                  <a:lnTo>
                    <a:pt x="438912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11928605" y="5637533"/>
            <a:ext cx="392687" cy="63503"/>
            <a:chOff x="0" y="0"/>
            <a:chExt cx="523583" cy="84671"/>
          </a:xfrm>
        </p:grpSpPr>
        <p:sp>
          <p:nvSpPr>
            <p:cNvPr id="41" name="Freeform 41"/>
            <p:cNvSpPr/>
            <p:nvPr/>
          </p:nvSpPr>
          <p:spPr>
            <a:xfrm>
              <a:off x="42291" y="0"/>
              <a:ext cx="438912" cy="84709"/>
            </a:xfrm>
            <a:custGeom>
              <a:avLst/>
              <a:gdLst/>
              <a:ahLst/>
              <a:cxnLst/>
              <a:rect l="l" t="t" r="r" b="b"/>
              <a:pathLst>
                <a:path w="438912" h="84709">
                  <a:moveTo>
                    <a:pt x="0" y="0"/>
                  </a:moveTo>
                  <a:lnTo>
                    <a:pt x="438912" y="0"/>
                  </a:lnTo>
                  <a:lnTo>
                    <a:pt x="438912" y="84709"/>
                  </a:lnTo>
                  <a:lnTo>
                    <a:pt x="0" y="84709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914400" y="9235440"/>
            <a:ext cx="16459200" cy="731520"/>
            <a:chOff x="0" y="0"/>
            <a:chExt cx="21945600" cy="9753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914400" y="9235440"/>
            <a:ext cx="16459200" cy="731520"/>
            <a:chOff x="0" y="0"/>
            <a:chExt cx="21945600" cy="97536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21945600" cy="975360"/>
            </a:xfrm>
            <a:custGeom>
              <a:avLst/>
              <a:gdLst/>
              <a:ahLst/>
              <a:cxnLst/>
              <a:rect l="l" t="t" r="r" b="b"/>
              <a:pathLst>
                <a:path w="21945600" h="97536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413" b="-388413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47625"/>
              <a:ext cx="21945600" cy="10229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A8C4E0"/>
                  </a:solidFill>
                  <a:latin typeface="Consolas"/>
                  <a:ea typeface="Consolas"/>
                  <a:cs typeface="Consolas"/>
                  <a:sym typeface="Consolas"/>
                </a:rPr>
                <a:t>encrypt:  XOR(data, key) → noise       |       decrypt:  XOR(noise, key) → data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48640"/>
            <a:ext cx="16093440" cy="1188720"/>
            <a:chOff x="0" y="0"/>
            <a:chExt cx="2145792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584960"/>
            </a:xfrm>
            <a:custGeom>
              <a:avLst/>
              <a:gdLst/>
              <a:ahLst/>
              <a:cxnLst/>
              <a:rect l="l" t="t" r="r" b="b"/>
              <a:pathLst>
                <a:path w="21457920" h="158496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797" b="-21379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Implementation Pipeline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04459" y="1917697"/>
            <a:ext cx="5603243" cy="7340603"/>
            <a:chOff x="0" y="0"/>
            <a:chExt cx="7470991" cy="9787471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7470991" cy="9787471"/>
              <a:chOff x="0" y="0"/>
              <a:chExt cx="7470991" cy="978747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891" y="16891"/>
                <a:ext cx="7437120" cy="9753600"/>
              </a:xfrm>
              <a:custGeom>
                <a:avLst/>
                <a:gdLst/>
                <a:ahLst/>
                <a:cxnLst/>
                <a:rect l="l" t="t" r="r" b="b"/>
                <a:pathLst>
                  <a:path w="7437120" h="9753600">
                    <a:moveTo>
                      <a:pt x="0" y="0"/>
                    </a:moveTo>
                    <a:lnTo>
                      <a:pt x="7437120" y="0"/>
                    </a:lnTo>
                    <a:lnTo>
                      <a:pt x="7437120" y="9753600"/>
                    </a:lnTo>
                    <a:lnTo>
                      <a:pt x="0" y="975360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" name="Freeform 8"/>
              <p:cNvSpPr/>
              <p:nvPr/>
            </p:nvSpPr>
            <p:spPr>
              <a:xfrm>
                <a:off x="0" y="0"/>
                <a:ext cx="7470901" cy="9787382"/>
              </a:xfrm>
              <a:custGeom>
                <a:avLst/>
                <a:gdLst/>
                <a:ahLst/>
                <a:cxnLst/>
                <a:rect l="l" t="t" r="r" b="b"/>
                <a:pathLst>
                  <a:path w="7470901" h="9787382">
                    <a:moveTo>
                      <a:pt x="16891" y="0"/>
                    </a:moveTo>
                    <a:lnTo>
                      <a:pt x="7454011" y="0"/>
                    </a:lnTo>
                    <a:cubicBezTo>
                      <a:pt x="7463409" y="0"/>
                      <a:pt x="7470901" y="7620"/>
                      <a:pt x="7470901" y="16891"/>
                    </a:cubicBezTo>
                    <a:lnTo>
                      <a:pt x="7470901" y="9770491"/>
                    </a:lnTo>
                    <a:cubicBezTo>
                      <a:pt x="7470901" y="9779889"/>
                      <a:pt x="7463282" y="9787382"/>
                      <a:pt x="7454011" y="9787382"/>
                    </a:cubicBezTo>
                    <a:lnTo>
                      <a:pt x="16891" y="9787382"/>
                    </a:lnTo>
                    <a:cubicBezTo>
                      <a:pt x="7493" y="9787382"/>
                      <a:pt x="0" y="9779762"/>
                      <a:pt x="0" y="9770491"/>
                    </a:cubicBezTo>
                    <a:lnTo>
                      <a:pt x="0" y="16891"/>
                    </a:lnTo>
                    <a:cubicBezTo>
                      <a:pt x="0" y="7620"/>
                      <a:pt x="7620" y="0"/>
                      <a:pt x="16891" y="0"/>
                    </a:cubicBezTo>
                    <a:moveTo>
                      <a:pt x="16891" y="33909"/>
                    </a:moveTo>
                    <a:lnTo>
                      <a:pt x="16891" y="16891"/>
                    </a:lnTo>
                    <a:lnTo>
                      <a:pt x="33909" y="16891"/>
                    </a:lnTo>
                    <a:lnTo>
                      <a:pt x="33909" y="9770491"/>
                    </a:lnTo>
                    <a:lnTo>
                      <a:pt x="16891" y="9770491"/>
                    </a:lnTo>
                    <a:lnTo>
                      <a:pt x="16891" y="9753600"/>
                    </a:lnTo>
                    <a:lnTo>
                      <a:pt x="7454011" y="9753600"/>
                    </a:lnTo>
                    <a:lnTo>
                      <a:pt x="7454011" y="9770491"/>
                    </a:lnTo>
                    <a:lnTo>
                      <a:pt x="7437120" y="9770491"/>
                    </a:lnTo>
                    <a:lnTo>
                      <a:pt x="7437120" y="16891"/>
                    </a:lnTo>
                    <a:lnTo>
                      <a:pt x="7454011" y="16891"/>
                    </a:lnTo>
                    <a:lnTo>
                      <a:pt x="7454011" y="33909"/>
                    </a:lnTo>
                    <a:lnTo>
                      <a:pt x="16891" y="33909"/>
                    </a:lnTo>
                    <a:close/>
                  </a:path>
                </a:pathLst>
              </a:custGeom>
              <a:solidFill>
                <a:srgbClr val="2586C4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16929" y="16929"/>
              <a:ext cx="7437120" cy="1170432"/>
              <a:chOff x="0" y="0"/>
              <a:chExt cx="7437120" cy="117043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437120" cy="1170432"/>
              </a:xfrm>
              <a:custGeom>
                <a:avLst/>
                <a:gdLst/>
                <a:ahLst/>
                <a:cxnLst/>
                <a:rect l="l" t="t" r="r" b="b"/>
                <a:pathLst>
                  <a:path w="7437120" h="1170432">
                    <a:moveTo>
                      <a:pt x="0" y="0"/>
                    </a:moveTo>
                    <a:lnTo>
                      <a:pt x="7437120" y="0"/>
                    </a:lnTo>
                    <a:lnTo>
                      <a:pt x="74371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solidFill>
                <a:srgbClr val="2586C4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16929" y="16929"/>
              <a:ext cx="7437120" cy="1170432"/>
              <a:chOff x="0" y="0"/>
              <a:chExt cx="7437120" cy="117043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7437120" cy="1170432"/>
              </a:xfrm>
              <a:custGeom>
                <a:avLst/>
                <a:gdLst/>
                <a:ahLst/>
                <a:cxnLst/>
                <a:rect l="l" t="t" r="r" b="b"/>
                <a:pathLst>
                  <a:path w="7437120" h="1170432">
                    <a:moveTo>
                      <a:pt x="0" y="0"/>
                    </a:moveTo>
                    <a:lnTo>
                      <a:pt x="7437120" y="0"/>
                    </a:lnTo>
                    <a:lnTo>
                      <a:pt x="74371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73811" b="-73811"/>
                </a:stretch>
              </a:blip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9525"/>
                <a:ext cx="7437120" cy="117995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1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XOR Encrypt / Decrypt - 16 bit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82695" y="2455335"/>
              <a:ext cx="6705600" cy="4876800"/>
              <a:chOff x="0" y="0"/>
              <a:chExt cx="6705600" cy="48768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705600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6705600" h="48768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3311" r="-43311"/>
                </a:stretch>
              </a:blip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6705600" cy="492442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603248" lvl="1" indent="-301624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Load Modbus data</a:t>
                </a:r>
              </a:p>
              <a:p>
                <a:pPr marL="603248" lvl="1" indent="-301624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Generate key stream from seed 999</a:t>
                </a:r>
              </a:p>
              <a:p>
                <a:pPr marL="603248" lvl="1" indent="-301624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XOR encrypt FC1–FC4 registers seperately</a:t>
                </a:r>
              </a:p>
              <a:p>
                <a:pPr marL="603248" lvl="1" indent="-301624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Save encrypted CSV</a:t>
                </a:r>
              </a:p>
              <a:p>
                <a:pPr marL="603248" lvl="1" indent="-301624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XOR decrypt using same seed</a:t>
                </a:r>
              </a:p>
              <a:p>
                <a:pPr marL="602930" lvl="1" indent="-301465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Verify: 0 max error, 100% match</a:t>
                </a:r>
              </a:p>
              <a:p>
                <a:pPr algn="l">
                  <a:lnSpc>
                    <a:spcPts val="2999"/>
                  </a:lnSpc>
                </a:pPr>
                <a:endParaRPr lang="en-US" sz="2499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endParaRPr>
              </a:p>
            </p:txBody>
          </p:sp>
        </p:grpSp>
      </p:grpSp>
      <p:grpSp>
        <p:nvGrpSpPr>
          <p:cNvPr id="17" name="Group 17"/>
          <p:cNvGrpSpPr/>
          <p:nvPr/>
        </p:nvGrpSpPr>
        <p:grpSpPr>
          <a:xfrm>
            <a:off x="-4966644" y="9424664"/>
            <a:ext cx="5224777" cy="1475737"/>
            <a:chOff x="0" y="0"/>
            <a:chExt cx="6966369" cy="1967649"/>
          </a:xfrm>
        </p:grpSpPr>
        <p:sp>
          <p:nvSpPr>
            <p:cNvPr id="18" name="Freeform 18"/>
            <p:cNvSpPr/>
            <p:nvPr/>
          </p:nvSpPr>
          <p:spPr>
            <a:xfrm>
              <a:off x="8509" y="8509"/>
              <a:ext cx="6949440" cy="1950720"/>
            </a:xfrm>
            <a:custGeom>
              <a:avLst/>
              <a:gdLst/>
              <a:ahLst/>
              <a:cxnLst/>
              <a:rect l="l" t="t" r="r" b="b"/>
              <a:pathLst>
                <a:path w="6949440" h="1950720">
                  <a:moveTo>
                    <a:pt x="0" y="0"/>
                  </a:moveTo>
                  <a:lnTo>
                    <a:pt x="6949440" y="0"/>
                  </a:lnTo>
                  <a:lnTo>
                    <a:pt x="6949440" y="1950720"/>
                  </a:lnTo>
                  <a:lnTo>
                    <a:pt x="0" y="1950720"/>
                  </a:lnTo>
                  <a:close/>
                </a:path>
              </a:pathLst>
            </a:custGeom>
            <a:solidFill>
              <a:srgbClr val="EBF2FA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6966458" cy="1967738"/>
            </a:xfrm>
            <a:custGeom>
              <a:avLst/>
              <a:gdLst/>
              <a:ahLst/>
              <a:cxnLst/>
              <a:rect l="l" t="t" r="r" b="b"/>
              <a:pathLst>
                <a:path w="6966458" h="1967738">
                  <a:moveTo>
                    <a:pt x="8509" y="0"/>
                  </a:moveTo>
                  <a:lnTo>
                    <a:pt x="6957949" y="0"/>
                  </a:lnTo>
                  <a:cubicBezTo>
                    <a:pt x="6962648" y="0"/>
                    <a:pt x="6966458" y="3810"/>
                    <a:pt x="6966458" y="8509"/>
                  </a:cubicBezTo>
                  <a:lnTo>
                    <a:pt x="6966458" y="1959229"/>
                  </a:lnTo>
                  <a:cubicBezTo>
                    <a:pt x="6966458" y="1963928"/>
                    <a:pt x="6962648" y="1967738"/>
                    <a:pt x="6957949" y="1967738"/>
                  </a:cubicBezTo>
                  <a:lnTo>
                    <a:pt x="8509" y="1967738"/>
                  </a:lnTo>
                  <a:cubicBezTo>
                    <a:pt x="3810" y="1967738"/>
                    <a:pt x="0" y="1963928"/>
                    <a:pt x="0" y="195922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1959229"/>
                  </a:lnTo>
                  <a:lnTo>
                    <a:pt x="8509" y="1959229"/>
                  </a:lnTo>
                  <a:lnTo>
                    <a:pt x="8509" y="1950720"/>
                  </a:lnTo>
                  <a:lnTo>
                    <a:pt x="6957949" y="1950720"/>
                  </a:lnTo>
                  <a:lnTo>
                    <a:pt x="6957949" y="1959229"/>
                  </a:lnTo>
                  <a:lnTo>
                    <a:pt x="6949440" y="1959229"/>
                  </a:lnTo>
                  <a:lnTo>
                    <a:pt x="6949440" y="8509"/>
                  </a:lnTo>
                  <a:lnTo>
                    <a:pt x="6957949" y="8509"/>
                  </a:lnTo>
                  <a:lnTo>
                    <a:pt x="6957949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D9E2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0637313" y="1941004"/>
            <a:ext cx="5557893" cy="7293989"/>
            <a:chOff x="0" y="0"/>
            <a:chExt cx="7410524" cy="9725318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7376927" cy="1038778"/>
              <a:chOff x="0" y="0"/>
              <a:chExt cx="8209609" cy="115603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209609" cy="1156031"/>
              </a:xfrm>
              <a:custGeom>
                <a:avLst/>
                <a:gdLst/>
                <a:ahLst/>
                <a:cxnLst/>
                <a:rect l="l" t="t" r="r" b="b"/>
                <a:pathLst>
                  <a:path w="8209609" h="1156031">
                    <a:moveTo>
                      <a:pt x="0" y="0"/>
                    </a:moveTo>
                    <a:lnTo>
                      <a:pt x="8209609" y="0"/>
                    </a:lnTo>
                    <a:lnTo>
                      <a:pt x="8209609" y="1156031"/>
                    </a:lnTo>
                    <a:lnTo>
                      <a:pt x="0" y="1156031"/>
                    </a:lnTo>
                    <a:close/>
                  </a:path>
                </a:pathLst>
              </a:custGeom>
              <a:solidFill>
                <a:srgbClr val="1B9E6D"/>
              </a:solidFill>
            </p:spPr>
          </p:sp>
        </p:grpSp>
        <p:grpSp>
          <p:nvGrpSpPr>
            <p:cNvPr id="23" name="Group 23"/>
            <p:cNvGrpSpPr/>
            <p:nvPr/>
          </p:nvGrpSpPr>
          <p:grpSpPr>
            <a:xfrm>
              <a:off x="33597" y="0"/>
              <a:ext cx="7376927" cy="1038778"/>
              <a:chOff x="0" y="0"/>
              <a:chExt cx="8209609" cy="115603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209609" cy="1156031"/>
              </a:xfrm>
              <a:custGeom>
                <a:avLst/>
                <a:gdLst/>
                <a:ahLst/>
                <a:cxnLst/>
                <a:rect l="l" t="t" r="r" b="b"/>
                <a:pathLst>
                  <a:path w="8209609" h="1156031">
                    <a:moveTo>
                      <a:pt x="0" y="0"/>
                    </a:moveTo>
                    <a:lnTo>
                      <a:pt x="8209609" y="0"/>
                    </a:lnTo>
                    <a:lnTo>
                      <a:pt x="8209609" y="1156031"/>
                    </a:lnTo>
                    <a:lnTo>
                      <a:pt x="0" y="115603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74730" r="9409" b="-75976"/>
                </a:stretch>
              </a:blip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0" y="-9525"/>
                <a:ext cx="8209609" cy="116555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80"/>
                  </a:lnSpc>
                </a:pPr>
                <a:r>
                  <a:rPr lang="en-US" sz="2400" b="1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 XOR Encrypt / Decrypt - 64 bit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33597" y="1038778"/>
              <a:ext cx="7343330" cy="8686541"/>
              <a:chOff x="0" y="0"/>
              <a:chExt cx="8172220" cy="966704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18476" y="16683"/>
                <a:ext cx="8135170" cy="9633594"/>
              </a:xfrm>
              <a:custGeom>
                <a:avLst/>
                <a:gdLst/>
                <a:ahLst/>
                <a:cxnLst/>
                <a:rect l="l" t="t" r="r" b="b"/>
                <a:pathLst>
                  <a:path w="8135170" h="9633594">
                    <a:moveTo>
                      <a:pt x="0" y="0"/>
                    </a:moveTo>
                    <a:lnTo>
                      <a:pt x="8135170" y="0"/>
                    </a:lnTo>
                    <a:lnTo>
                      <a:pt x="8135170" y="9633594"/>
                    </a:lnTo>
                    <a:lnTo>
                      <a:pt x="0" y="9633594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8" name="Freeform 28"/>
              <p:cNvSpPr/>
              <p:nvPr/>
            </p:nvSpPr>
            <p:spPr>
              <a:xfrm>
                <a:off x="0" y="0"/>
                <a:ext cx="8172122" cy="9666960"/>
              </a:xfrm>
              <a:custGeom>
                <a:avLst/>
                <a:gdLst/>
                <a:ahLst/>
                <a:cxnLst/>
                <a:rect l="l" t="t" r="r" b="b"/>
                <a:pathLst>
                  <a:path w="8172122" h="9666960">
                    <a:moveTo>
                      <a:pt x="18476" y="0"/>
                    </a:moveTo>
                    <a:lnTo>
                      <a:pt x="8153646" y="0"/>
                    </a:lnTo>
                    <a:cubicBezTo>
                      <a:pt x="8163926" y="0"/>
                      <a:pt x="8172122" y="7526"/>
                      <a:pt x="8172122" y="16683"/>
                    </a:cubicBezTo>
                    <a:lnTo>
                      <a:pt x="8172122" y="9650277"/>
                    </a:lnTo>
                    <a:cubicBezTo>
                      <a:pt x="8172122" y="9659559"/>
                      <a:pt x="8163788" y="9666960"/>
                      <a:pt x="8153646" y="9666960"/>
                    </a:cubicBezTo>
                    <a:lnTo>
                      <a:pt x="18476" y="9666960"/>
                    </a:lnTo>
                    <a:cubicBezTo>
                      <a:pt x="8196" y="9666960"/>
                      <a:pt x="0" y="9659434"/>
                      <a:pt x="0" y="9650277"/>
                    </a:cubicBezTo>
                    <a:lnTo>
                      <a:pt x="0" y="16683"/>
                    </a:lnTo>
                    <a:cubicBezTo>
                      <a:pt x="0" y="7526"/>
                      <a:pt x="8335" y="0"/>
                      <a:pt x="18476" y="0"/>
                    </a:cubicBezTo>
                    <a:moveTo>
                      <a:pt x="18476" y="33492"/>
                    </a:moveTo>
                    <a:lnTo>
                      <a:pt x="18476" y="16683"/>
                    </a:lnTo>
                    <a:lnTo>
                      <a:pt x="37092" y="16683"/>
                    </a:lnTo>
                    <a:lnTo>
                      <a:pt x="37092" y="9650277"/>
                    </a:lnTo>
                    <a:lnTo>
                      <a:pt x="18476" y="9650277"/>
                    </a:lnTo>
                    <a:lnTo>
                      <a:pt x="18476" y="9633593"/>
                    </a:lnTo>
                    <a:lnTo>
                      <a:pt x="8153646" y="9633593"/>
                    </a:lnTo>
                    <a:lnTo>
                      <a:pt x="8153646" y="9650277"/>
                    </a:lnTo>
                    <a:lnTo>
                      <a:pt x="8135170" y="9650277"/>
                    </a:lnTo>
                    <a:lnTo>
                      <a:pt x="8135170" y="16683"/>
                    </a:lnTo>
                    <a:lnTo>
                      <a:pt x="8153646" y="16683"/>
                    </a:lnTo>
                    <a:lnTo>
                      <a:pt x="8153646" y="33492"/>
                    </a:lnTo>
                    <a:lnTo>
                      <a:pt x="18476" y="33492"/>
                    </a:lnTo>
                    <a:close/>
                  </a:path>
                </a:pathLst>
              </a:custGeom>
              <a:solidFill>
                <a:srgbClr val="1B9E6D"/>
              </a:solidFill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277848" y="1476425"/>
              <a:ext cx="7132676" cy="82488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65604" lvl="1" indent="-232802" algn="l">
                <a:lnSpc>
                  <a:spcPts val="25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56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Load Modbus data</a:t>
              </a:r>
            </a:p>
            <a:p>
              <a:pPr marL="465604" lvl="1" indent="-232802" algn="l">
                <a:lnSpc>
                  <a:spcPts val="25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56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Generate key stream from seed 999</a:t>
              </a:r>
            </a:p>
            <a:p>
              <a:pPr marL="465604" lvl="1" indent="-232802" algn="l">
                <a:lnSpc>
                  <a:spcPts val="25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56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XOR encrypt FC1–FC4 registers combined</a:t>
              </a:r>
            </a:p>
            <a:p>
              <a:pPr marL="465604" lvl="1" indent="-232802" algn="l">
                <a:lnSpc>
                  <a:spcPts val="25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56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Save encrypted CSV</a:t>
              </a:r>
            </a:p>
            <a:p>
              <a:pPr marL="465604" lvl="1" indent="-232802" algn="l">
                <a:lnSpc>
                  <a:spcPts val="25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56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XOR decrypt using same seed</a:t>
              </a:r>
            </a:p>
            <a:p>
              <a:pPr marL="465604" lvl="1" indent="-232802" algn="l">
                <a:lnSpc>
                  <a:spcPts val="25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56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Verify: 0 max error, 100% match</a:t>
              </a:r>
            </a:p>
            <a:p>
              <a:pPr marL="465604" lvl="1" indent="-232802" algn="l">
                <a:lnSpc>
                  <a:spcPts val="25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56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XOR with 64 bits </a:t>
              </a:r>
            </a:p>
            <a:p>
              <a:pPr algn="l">
                <a:lnSpc>
                  <a:spcPts val="2587"/>
                </a:lnSpc>
                <a:spcBef>
                  <a:spcPct val="0"/>
                </a:spcBef>
              </a:pPr>
              <a:endParaRPr lang="en-US" sz="2156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marL="465604" lvl="1" indent="-232802" algn="l">
                <a:lnSpc>
                  <a:spcPts val="25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56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FC1 = 49389 → 1100000011101101 </a:t>
              </a:r>
            </a:p>
            <a:p>
              <a:pPr marL="465604" lvl="1" indent="-232802" algn="l">
                <a:lnSpc>
                  <a:spcPts val="25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56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FC2 = 52921 → 1100111010111001 </a:t>
              </a:r>
            </a:p>
            <a:p>
              <a:pPr marL="465604" lvl="1" indent="-232802" algn="l">
                <a:lnSpc>
                  <a:spcPts val="25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56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FC3 = 25770 → 0110010010101010 </a:t>
              </a:r>
            </a:p>
            <a:p>
              <a:pPr marL="465604" lvl="1" indent="-232802" algn="l">
                <a:lnSpc>
                  <a:spcPts val="2587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156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FC4 = 13625 → 0011010100111001</a:t>
              </a:r>
            </a:p>
            <a:p>
              <a:pPr algn="l">
                <a:lnSpc>
                  <a:spcPts val="2587"/>
                </a:lnSpc>
                <a:spcBef>
                  <a:spcPct val="0"/>
                </a:spcBef>
              </a:pPr>
              <a:endParaRPr lang="en-US" sz="2156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algn="l">
                <a:lnSpc>
                  <a:spcPts val="2587"/>
                </a:lnSpc>
                <a:spcBef>
                  <a:spcPct val="0"/>
                </a:spcBef>
              </a:pPr>
              <a:r>
                <a:rPr lang="en-US" sz="2156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 </a:t>
              </a:r>
            </a:p>
            <a:p>
              <a:pPr algn="l">
                <a:lnSpc>
                  <a:spcPts val="2587"/>
                </a:lnSpc>
                <a:spcBef>
                  <a:spcPct val="0"/>
                </a:spcBef>
              </a:pPr>
              <a:r>
                <a:rPr lang="en-US" sz="2156">
                  <a:solidFill>
                    <a:srgbClr val="000000"/>
                  </a:solidFill>
                  <a:latin typeface="Trebuchet MS"/>
                  <a:ea typeface="Trebuchet MS"/>
                  <a:cs typeface="Trebuchet MS"/>
                  <a:sym typeface="Trebuchet MS"/>
                </a:rPr>
                <a:t>1100000011101101 1100111010111001 0110010010101010 0011010100111001 </a:t>
              </a:r>
            </a:p>
            <a:p>
              <a:pPr algn="l">
                <a:lnSpc>
                  <a:spcPts val="2587"/>
                </a:lnSpc>
                <a:spcBef>
                  <a:spcPct val="0"/>
                </a:spcBef>
              </a:pPr>
              <a:endParaRPr lang="en-US" sz="2156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  <a:p>
              <a:pPr algn="l">
                <a:lnSpc>
                  <a:spcPts val="2587"/>
                </a:lnSpc>
                <a:spcBef>
                  <a:spcPct val="0"/>
                </a:spcBef>
              </a:pPr>
              <a:endParaRPr lang="en-US" sz="2156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48640"/>
            <a:ext cx="16093440" cy="1188720"/>
            <a:chOff x="0" y="0"/>
            <a:chExt cx="2145792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584960"/>
            </a:xfrm>
            <a:custGeom>
              <a:avLst/>
              <a:gdLst/>
              <a:ahLst/>
              <a:cxnLst/>
              <a:rect l="l" t="t" r="r" b="b"/>
              <a:pathLst>
                <a:path w="21457920" h="158496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797" b="-21379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Implementation Pipeline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302691" y="2339335"/>
            <a:ext cx="13682618" cy="6918965"/>
            <a:chOff x="0" y="0"/>
            <a:chExt cx="18243491" cy="922528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7470991" cy="9225286"/>
              <a:chOff x="0" y="0"/>
              <a:chExt cx="7470991" cy="9225286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6891" y="15921"/>
                <a:ext cx="7437120" cy="9193361"/>
              </a:xfrm>
              <a:custGeom>
                <a:avLst/>
                <a:gdLst/>
                <a:ahLst/>
                <a:cxnLst/>
                <a:rect l="l" t="t" r="r" b="b"/>
                <a:pathLst>
                  <a:path w="7437120" h="9193361">
                    <a:moveTo>
                      <a:pt x="0" y="0"/>
                    </a:moveTo>
                    <a:lnTo>
                      <a:pt x="7437120" y="0"/>
                    </a:lnTo>
                    <a:lnTo>
                      <a:pt x="7437120" y="9193361"/>
                    </a:lnTo>
                    <a:lnTo>
                      <a:pt x="0" y="91933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" name="Freeform 8"/>
              <p:cNvSpPr/>
              <p:nvPr/>
            </p:nvSpPr>
            <p:spPr>
              <a:xfrm>
                <a:off x="0" y="0"/>
                <a:ext cx="7470901" cy="9225202"/>
              </a:xfrm>
              <a:custGeom>
                <a:avLst/>
                <a:gdLst/>
                <a:ahLst/>
                <a:cxnLst/>
                <a:rect l="l" t="t" r="r" b="b"/>
                <a:pathLst>
                  <a:path w="7470901" h="9225202">
                    <a:moveTo>
                      <a:pt x="16891" y="0"/>
                    </a:moveTo>
                    <a:lnTo>
                      <a:pt x="7454011" y="0"/>
                    </a:lnTo>
                    <a:cubicBezTo>
                      <a:pt x="7463409" y="0"/>
                      <a:pt x="7470901" y="7182"/>
                      <a:pt x="7470901" y="15921"/>
                    </a:cubicBezTo>
                    <a:lnTo>
                      <a:pt x="7470901" y="9209282"/>
                    </a:lnTo>
                    <a:cubicBezTo>
                      <a:pt x="7470901" y="9218140"/>
                      <a:pt x="7463282" y="9225202"/>
                      <a:pt x="7454011" y="9225202"/>
                    </a:cubicBezTo>
                    <a:lnTo>
                      <a:pt x="16891" y="9225202"/>
                    </a:lnTo>
                    <a:cubicBezTo>
                      <a:pt x="7493" y="9225202"/>
                      <a:pt x="0" y="9218020"/>
                      <a:pt x="0" y="9209282"/>
                    </a:cubicBezTo>
                    <a:lnTo>
                      <a:pt x="0" y="15921"/>
                    </a:lnTo>
                    <a:cubicBezTo>
                      <a:pt x="0" y="7182"/>
                      <a:pt x="7620" y="0"/>
                      <a:pt x="16891" y="0"/>
                    </a:cubicBezTo>
                    <a:moveTo>
                      <a:pt x="16891" y="31961"/>
                    </a:moveTo>
                    <a:lnTo>
                      <a:pt x="16891" y="15921"/>
                    </a:lnTo>
                    <a:lnTo>
                      <a:pt x="33909" y="15921"/>
                    </a:lnTo>
                    <a:lnTo>
                      <a:pt x="33909" y="9209282"/>
                    </a:lnTo>
                    <a:lnTo>
                      <a:pt x="16891" y="9209282"/>
                    </a:lnTo>
                    <a:lnTo>
                      <a:pt x="16891" y="9193361"/>
                    </a:lnTo>
                    <a:lnTo>
                      <a:pt x="7454011" y="9193361"/>
                    </a:lnTo>
                    <a:lnTo>
                      <a:pt x="7454011" y="9209282"/>
                    </a:lnTo>
                    <a:lnTo>
                      <a:pt x="7437120" y="9209282"/>
                    </a:lnTo>
                    <a:lnTo>
                      <a:pt x="7437120" y="15921"/>
                    </a:lnTo>
                    <a:lnTo>
                      <a:pt x="7454011" y="15921"/>
                    </a:lnTo>
                    <a:lnTo>
                      <a:pt x="7454011" y="31961"/>
                    </a:lnTo>
                    <a:lnTo>
                      <a:pt x="16891" y="31961"/>
                    </a:lnTo>
                    <a:close/>
                  </a:path>
                </a:pathLst>
              </a:custGeom>
              <a:solidFill>
                <a:srgbClr val="D98B20"/>
              </a:solid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0" y="75190"/>
              <a:ext cx="7437120" cy="1170432"/>
              <a:chOff x="0" y="0"/>
              <a:chExt cx="7437120" cy="1170432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7437120" cy="1170432"/>
              </a:xfrm>
              <a:custGeom>
                <a:avLst/>
                <a:gdLst/>
                <a:ahLst/>
                <a:cxnLst/>
                <a:rect l="l" t="t" r="r" b="b"/>
                <a:pathLst>
                  <a:path w="7437120" h="1170432">
                    <a:moveTo>
                      <a:pt x="0" y="0"/>
                    </a:moveTo>
                    <a:lnTo>
                      <a:pt x="7437120" y="0"/>
                    </a:lnTo>
                    <a:lnTo>
                      <a:pt x="74371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solidFill>
                <a:srgbClr val="D98B20"/>
              </a:solid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33871" y="75190"/>
              <a:ext cx="7437120" cy="1170432"/>
              <a:chOff x="0" y="0"/>
              <a:chExt cx="7437120" cy="117043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7437120" cy="1170432"/>
              </a:xfrm>
              <a:custGeom>
                <a:avLst/>
                <a:gdLst/>
                <a:ahLst/>
                <a:cxnLst/>
                <a:rect l="l" t="t" r="r" b="b"/>
                <a:pathLst>
                  <a:path w="7437120" h="1170432">
                    <a:moveTo>
                      <a:pt x="0" y="0"/>
                    </a:moveTo>
                    <a:lnTo>
                      <a:pt x="7437120" y="0"/>
                    </a:lnTo>
                    <a:lnTo>
                      <a:pt x="74371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73811" b="-73811"/>
                </a:stretch>
              </a:blip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9525"/>
                <a:ext cx="7437120" cy="117995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1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  Gaussian Encrypt / Decrypt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365760" y="1894399"/>
              <a:ext cx="6705600" cy="5612630"/>
              <a:chOff x="0" y="0"/>
              <a:chExt cx="6705600" cy="561263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705600" cy="5612630"/>
              </a:xfrm>
              <a:custGeom>
                <a:avLst/>
                <a:gdLst/>
                <a:ahLst/>
                <a:cxnLst/>
                <a:rect l="l" t="t" r="r" b="b"/>
                <a:pathLst>
                  <a:path w="6705600" h="561263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5612630"/>
                    </a:lnTo>
                    <a:lnTo>
                      <a:pt x="0" y="561263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3311" r="-43311" b="13110"/>
                </a:stretch>
              </a:blip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47625"/>
                <a:ext cx="6705600" cy="5660255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602930" lvl="1" indent="-301465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Load original CSV</a:t>
                </a:r>
              </a:p>
              <a:p>
                <a:pPr marL="603248" lvl="1" indent="-301624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noise multiplier = 0.8</a:t>
                </a:r>
              </a:p>
              <a:p>
                <a:pPr marL="603248" lvl="1" indent="-301624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Compute σ = 0.8 × data std</a:t>
                </a:r>
              </a:p>
              <a:p>
                <a:pPr marL="603248" lvl="1" indent="-301624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Add Gaussian noise N(0, σ)</a:t>
                </a:r>
              </a:p>
              <a:p>
                <a:pPr marL="603248" lvl="1" indent="-301624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Save encrypted CSV</a:t>
                </a:r>
              </a:p>
              <a:p>
                <a:pPr marL="603248" lvl="1" indent="-301624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Subtract noise for decryption</a:t>
                </a:r>
              </a:p>
              <a:p>
                <a:pPr marL="602930" lvl="1" indent="-301465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Verify: residual error (NOT perfect)</a:t>
                </a:r>
              </a:p>
              <a:p>
                <a:pPr marL="602930" lvl="1" indent="-301465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88% decrypt </a:t>
                </a:r>
              </a:p>
              <a:p>
                <a:pPr marL="603248" lvl="1" indent="-301624" algn="l">
                  <a:lnSpc>
                    <a:spcPts val="2999"/>
                  </a:lnSpc>
                  <a:buFont typeface="Arial"/>
                  <a:buChar char="•"/>
                </a:pPr>
                <a:r>
                  <a:rPr lang="en-US" sz="24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At this stage it can easily get cracked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10772500" y="0"/>
              <a:ext cx="7470991" cy="9225286"/>
              <a:chOff x="0" y="0"/>
              <a:chExt cx="7470991" cy="9225286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6891" y="15921"/>
                <a:ext cx="7437120" cy="9193361"/>
              </a:xfrm>
              <a:custGeom>
                <a:avLst/>
                <a:gdLst/>
                <a:ahLst/>
                <a:cxnLst/>
                <a:rect l="l" t="t" r="r" b="b"/>
                <a:pathLst>
                  <a:path w="7437120" h="9193361">
                    <a:moveTo>
                      <a:pt x="0" y="0"/>
                    </a:moveTo>
                    <a:lnTo>
                      <a:pt x="7437120" y="0"/>
                    </a:lnTo>
                    <a:lnTo>
                      <a:pt x="7437120" y="9193361"/>
                    </a:lnTo>
                    <a:lnTo>
                      <a:pt x="0" y="919336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9" name="Freeform 19"/>
              <p:cNvSpPr/>
              <p:nvPr/>
            </p:nvSpPr>
            <p:spPr>
              <a:xfrm>
                <a:off x="0" y="0"/>
                <a:ext cx="7470901" cy="9225202"/>
              </a:xfrm>
              <a:custGeom>
                <a:avLst/>
                <a:gdLst/>
                <a:ahLst/>
                <a:cxnLst/>
                <a:rect l="l" t="t" r="r" b="b"/>
                <a:pathLst>
                  <a:path w="7470901" h="9225202">
                    <a:moveTo>
                      <a:pt x="16891" y="0"/>
                    </a:moveTo>
                    <a:lnTo>
                      <a:pt x="7454011" y="0"/>
                    </a:lnTo>
                    <a:cubicBezTo>
                      <a:pt x="7463409" y="0"/>
                      <a:pt x="7470901" y="7182"/>
                      <a:pt x="7470901" y="15921"/>
                    </a:cubicBezTo>
                    <a:lnTo>
                      <a:pt x="7470901" y="9209282"/>
                    </a:lnTo>
                    <a:cubicBezTo>
                      <a:pt x="7470901" y="9218140"/>
                      <a:pt x="7463282" y="9225202"/>
                      <a:pt x="7454011" y="9225202"/>
                    </a:cubicBezTo>
                    <a:lnTo>
                      <a:pt x="16891" y="9225202"/>
                    </a:lnTo>
                    <a:cubicBezTo>
                      <a:pt x="7493" y="9225202"/>
                      <a:pt x="0" y="9218020"/>
                      <a:pt x="0" y="9209282"/>
                    </a:cubicBezTo>
                    <a:lnTo>
                      <a:pt x="0" y="15921"/>
                    </a:lnTo>
                    <a:cubicBezTo>
                      <a:pt x="0" y="7182"/>
                      <a:pt x="7620" y="0"/>
                      <a:pt x="16891" y="0"/>
                    </a:cubicBezTo>
                    <a:moveTo>
                      <a:pt x="16891" y="31961"/>
                    </a:moveTo>
                    <a:lnTo>
                      <a:pt x="16891" y="15921"/>
                    </a:lnTo>
                    <a:lnTo>
                      <a:pt x="33909" y="15921"/>
                    </a:lnTo>
                    <a:lnTo>
                      <a:pt x="33909" y="9209282"/>
                    </a:lnTo>
                    <a:lnTo>
                      <a:pt x="16891" y="9209282"/>
                    </a:lnTo>
                    <a:lnTo>
                      <a:pt x="16891" y="9193361"/>
                    </a:lnTo>
                    <a:lnTo>
                      <a:pt x="7454011" y="9193361"/>
                    </a:lnTo>
                    <a:lnTo>
                      <a:pt x="7454011" y="9209282"/>
                    </a:lnTo>
                    <a:lnTo>
                      <a:pt x="7437120" y="9209282"/>
                    </a:lnTo>
                    <a:lnTo>
                      <a:pt x="7437120" y="15921"/>
                    </a:lnTo>
                    <a:lnTo>
                      <a:pt x="7454011" y="15921"/>
                    </a:lnTo>
                    <a:lnTo>
                      <a:pt x="7454011" y="31961"/>
                    </a:lnTo>
                    <a:lnTo>
                      <a:pt x="16891" y="31961"/>
                    </a:lnTo>
                    <a:close/>
                  </a:path>
                </a:pathLst>
              </a:custGeom>
              <a:solidFill>
                <a:srgbClr val="1B9E6D"/>
              </a:solidFill>
            </p:spPr>
          </p:sp>
        </p:grpSp>
        <p:grpSp>
          <p:nvGrpSpPr>
            <p:cNvPr id="20" name="Group 20"/>
            <p:cNvGrpSpPr/>
            <p:nvPr/>
          </p:nvGrpSpPr>
          <p:grpSpPr>
            <a:xfrm>
              <a:off x="10806371" y="75190"/>
              <a:ext cx="7437120" cy="1170432"/>
              <a:chOff x="0" y="0"/>
              <a:chExt cx="7437120" cy="1170432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7437120" cy="1170432"/>
              </a:xfrm>
              <a:custGeom>
                <a:avLst/>
                <a:gdLst/>
                <a:ahLst/>
                <a:cxnLst/>
                <a:rect l="l" t="t" r="r" b="b"/>
                <a:pathLst>
                  <a:path w="7437120" h="1170432">
                    <a:moveTo>
                      <a:pt x="0" y="0"/>
                    </a:moveTo>
                    <a:lnTo>
                      <a:pt x="7437120" y="0"/>
                    </a:lnTo>
                    <a:lnTo>
                      <a:pt x="74371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solidFill>
                <a:srgbClr val="1B9E6D"/>
              </a:solidFill>
            </p:spPr>
          </p:sp>
        </p:grpSp>
        <p:grpSp>
          <p:nvGrpSpPr>
            <p:cNvPr id="22" name="Group 22"/>
            <p:cNvGrpSpPr/>
            <p:nvPr/>
          </p:nvGrpSpPr>
          <p:grpSpPr>
            <a:xfrm>
              <a:off x="10611595" y="0"/>
              <a:ext cx="7437120" cy="1170432"/>
              <a:chOff x="0" y="0"/>
              <a:chExt cx="7437120" cy="117043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7437120" cy="1170432"/>
              </a:xfrm>
              <a:custGeom>
                <a:avLst/>
                <a:gdLst/>
                <a:ahLst/>
                <a:cxnLst/>
                <a:rect l="l" t="t" r="r" b="b"/>
                <a:pathLst>
                  <a:path w="7437120" h="1170432">
                    <a:moveTo>
                      <a:pt x="0" y="0"/>
                    </a:moveTo>
                    <a:lnTo>
                      <a:pt x="7437120" y="0"/>
                    </a:lnTo>
                    <a:lnTo>
                      <a:pt x="7437120" y="1170432"/>
                    </a:lnTo>
                    <a:lnTo>
                      <a:pt x="0" y="11704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73811" b="-73811"/>
                </a:stretch>
              </a:blipFill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0" y="-9525"/>
                <a:ext cx="7437120" cy="117995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algn="ctr">
                  <a:lnSpc>
                    <a:spcPts val="2879"/>
                  </a:lnSpc>
                </a:pPr>
                <a:r>
                  <a:rPr lang="en-US" sz="2400" b="1">
                    <a:solidFill>
                      <a:srgbClr val="FFFFFF"/>
                    </a:solidFill>
                    <a:latin typeface="Trebuchet MS Bold"/>
                    <a:ea typeface="Trebuchet MS Bold"/>
                    <a:cs typeface="Trebuchet MS Bold"/>
                    <a:sym typeface="Trebuchet MS Bold"/>
                  </a:rPr>
                  <a:t>Analysis Pipeline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11108034" y="1894399"/>
              <a:ext cx="6705600" cy="4876800"/>
              <a:chOff x="0" y="0"/>
              <a:chExt cx="6705600" cy="4876800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0" y="0"/>
                <a:ext cx="6705600" cy="4876800"/>
              </a:xfrm>
              <a:custGeom>
                <a:avLst/>
                <a:gdLst/>
                <a:ahLst/>
                <a:cxnLst/>
                <a:rect l="l" t="t" r="r" b="b"/>
                <a:pathLst>
                  <a:path w="6705600" h="4876800">
                    <a:moveTo>
                      <a:pt x="0" y="0"/>
                    </a:moveTo>
                    <a:lnTo>
                      <a:pt x="6705600" y="0"/>
                    </a:lnTo>
                    <a:lnTo>
                      <a:pt x="6705600" y="4876800"/>
                    </a:lnTo>
                    <a:lnTo>
                      <a:pt x="0" y="487680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-43311" r="-43311"/>
                </a:stretch>
              </a:blipFill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57150"/>
                <a:ext cx="6705600" cy="4933950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579118" lvl="1" indent="-289559" algn="l">
                  <a:lnSpc>
                    <a:spcPts val="2879"/>
                  </a:lnSpc>
                  <a:buFont typeface="Arial"/>
                  <a:buChar char="•"/>
                </a:pPr>
                <a:r>
                  <a:rPr lang="en-US" sz="23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Load 3 CSV files</a:t>
                </a:r>
              </a:p>
              <a:p>
                <a:pPr marL="579118" lvl="1" indent="-289559" algn="l">
                  <a:lnSpc>
                    <a:spcPts val="2879"/>
                  </a:lnSpc>
                  <a:buFont typeface="Arial"/>
                  <a:buChar char="•"/>
                </a:pPr>
                <a:r>
                  <a:rPr lang="en-US" sz="23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Descriptive stats (mean, std, skew, kurtosis)</a:t>
                </a:r>
              </a:p>
              <a:p>
                <a:pPr marL="579118" lvl="1" indent="-289559" algn="l">
                  <a:lnSpc>
                    <a:spcPts val="2879"/>
                  </a:lnSpc>
                  <a:buFont typeface="Arial"/>
                  <a:buChar char="•"/>
                </a:pPr>
                <a:r>
                  <a:rPr lang="en-US" sz="23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Distribution + stationarity + ACF</a:t>
                </a:r>
              </a:p>
              <a:p>
                <a:pPr marL="579118" lvl="1" indent="-289559" algn="l">
                  <a:lnSpc>
                    <a:spcPts val="2879"/>
                  </a:lnSpc>
                  <a:buFont typeface="Arial"/>
                  <a:buChar char="•"/>
                </a:pPr>
                <a:r>
                  <a:rPr lang="en-US" sz="23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FFT + Welch PSD spectral analysis</a:t>
                </a:r>
              </a:p>
              <a:p>
                <a:pPr marL="579118" lvl="1" indent="-289559" algn="l">
                  <a:lnSpc>
                    <a:spcPts val="2879"/>
                  </a:lnSpc>
                  <a:buFont typeface="Arial"/>
                  <a:buChar char="•"/>
                </a:pPr>
                <a:r>
                  <a:rPr lang="en-US" sz="23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RF classifier → accuracy, F1, confusion matrix</a:t>
                </a:r>
              </a:p>
              <a:p>
                <a:pPr marL="579118" lvl="1" indent="-289559" algn="l">
                  <a:lnSpc>
                    <a:spcPts val="2879"/>
                  </a:lnSpc>
                  <a:buFont typeface="Arial"/>
                  <a:buChar char="•"/>
                </a:pPr>
                <a:r>
                  <a:rPr lang="en-US" sz="2399">
                    <a:solidFill>
                      <a:srgbClr val="3C3C3C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Multi-class attack detection</a:t>
                </a:r>
              </a:p>
            </p:txBody>
          </p:sp>
        </p:grpSp>
        <p:sp>
          <p:nvSpPr>
            <p:cNvPr id="28" name="AutoShape 28"/>
            <p:cNvSpPr/>
            <p:nvPr/>
          </p:nvSpPr>
          <p:spPr>
            <a:xfrm>
              <a:off x="7769231" y="4453064"/>
              <a:ext cx="2640303" cy="0"/>
            </a:xfrm>
            <a:prstGeom prst="line">
              <a:avLst/>
            </a:prstGeom>
            <a:ln w="508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48640"/>
            <a:ext cx="16093440" cy="1188720"/>
            <a:chOff x="0" y="0"/>
            <a:chExt cx="2145792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584960"/>
            </a:xfrm>
            <a:custGeom>
              <a:avLst/>
              <a:gdLst/>
              <a:ahLst/>
              <a:cxnLst/>
              <a:rect l="l" t="t" r="r" b="b"/>
              <a:pathLst>
                <a:path w="21457920" h="158496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797" b="-21379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Computational Performance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7280" y="1609344"/>
            <a:ext cx="16093440" cy="585216"/>
            <a:chOff x="0" y="0"/>
            <a:chExt cx="21457920" cy="7802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457920" cy="780288"/>
            </a:xfrm>
            <a:custGeom>
              <a:avLst/>
              <a:gdLst/>
              <a:ahLst/>
              <a:cxnLst/>
              <a:rect l="l" t="t" r="r" b="b"/>
              <a:pathLst>
                <a:path w="21457920" h="780288">
                  <a:moveTo>
                    <a:pt x="0" y="0"/>
                  </a:moveTo>
                  <a:lnTo>
                    <a:pt x="21457920" y="0"/>
                  </a:lnTo>
                  <a:lnTo>
                    <a:pt x="21457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838" b="-48583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21457920" cy="837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i="1">
                  <a:solidFill>
                    <a:srgbClr val="6B728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Measured in nb1 and nb2 — proves the 'lightweight' claim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21357" y="2367277"/>
            <a:ext cx="3860797" cy="2397757"/>
            <a:chOff x="0" y="0"/>
            <a:chExt cx="5147729" cy="3197009"/>
          </a:xfrm>
        </p:grpSpPr>
        <p:sp>
          <p:nvSpPr>
            <p:cNvPr id="9" name="Freeform 9"/>
            <p:cNvSpPr/>
            <p:nvPr/>
          </p:nvSpPr>
          <p:spPr>
            <a:xfrm>
              <a:off x="13589" y="13589"/>
              <a:ext cx="5120640" cy="3169920"/>
            </a:xfrm>
            <a:custGeom>
              <a:avLst/>
              <a:gdLst/>
              <a:ahLst/>
              <a:cxnLst/>
              <a:rect l="l" t="t" r="r" b="b"/>
              <a:pathLst>
                <a:path w="5120640" h="3169920">
                  <a:moveTo>
                    <a:pt x="0" y="0"/>
                  </a:moveTo>
                  <a:lnTo>
                    <a:pt x="5120640" y="0"/>
                  </a:lnTo>
                  <a:lnTo>
                    <a:pt x="51206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5147818" cy="3197098"/>
            </a:xfrm>
            <a:custGeom>
              <a:avLst/>
              <a:gdLst/>
              <a:ahLst/>
              <a:cxnLst/>
              <a:rect l="l" t="t" r="r" b="b"/>
              <a:pathLst>
                <a:path w="5147818" h="3197098">
                  <a:moveTo>
                    <a:pt x="13589" y="0"/>
                  </a:moveTo>
                  <a:lnTo>
                    <a:pt x="5134229" y="0"/>
                  </a:lnTo>
                  <a:cubicBezTo>
                    <a:pt x="5141722" y="0"/>
                    <a:pt x="5147818" y="6096"/>
                    <a:pt x="5147818" y="13589"/>
                  </a:cubicBezTo>
                  <a:lnTo>
                    <a:pt x="5147818" y="3183509"/>
                  </a:lnTo>
                  <a:cubicBezTo>
                    <a:pt x="5147818" y="3191002"/>
                    <a:pt x="5141722" y="3197098"/>
                    <a:pt x="5134229" y="3197098"/>
                  </a:cubicBezTo>
                  <a:lnTo>
                    <a:pt x="13589" y="3197098"/>
                  </a:lnTo>
                  <a:cubicBezTo>
                    <a:pt x="6096" y="3197098"/>
                    <a:pt x="0" y="3191002"/>
                    <a:pt x="0" y="31835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183509"/>
                  </a:lnTo>
                  <a:lnTo>
                    <a:pt x="13589" y="3183509"/>
                  </a:lnTo>
                  <a:lnTo>
                    <a:pt x="13589" y="3169920"/>
                  </a:lnTo>
                  <a:lnTo>
                    <a:pt x="5134229" y="3169920"/>
                  </a:lnTo>
                  <a:lnTo>
                    <a:pt x="5134229" y="3183509"/>
                  </a:lnTo>
                  <a:lnTo>
                    <a:pt x="5120640" y="3183509"/>
                  </a:lnTo>
                  <a:lnTo>
                    <a:pt x="5120640" y="13589"/>
                  </a:lnTo>
                  <a:lnTo>
                    <a:pt x="5134229" y="13589"/>
                  </a:lnTo>
                  <a:lnTo>
                    <a:pt x="51342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2586C4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731520" y="2468880"/>
            <a:ext cx="3840480" cy="1188720"/>
            <a:chOff x="0" y="0"/>
            <a:chExt cx="5120640" cy="158496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120640" cy="1584960"/>
            </a:xfrm>
            <a:custGeom>
              <a:avLst/>
              <a:gdLst/>
              <a:ahLst/>
              <a:cxnLst/>
              <a:rect l="l" t="t" r="r" b="b"/>
              <a:pathLst>
                <a:path w="5120640" h="158496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51" b="-12951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512064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2586C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&lt;1 ms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31520" y="3840480"/>
            <a:ext cx="3840480" cy="731520"/>
            <a:chOff x="0" y="0"/>
            <a:chExt cx="5120640" cy="97536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120640" cy="975360"/>
            </a:xfrm>
            <a:custGeom>
              <a:avLst/>
              <a:gdLst/>
              <a:ahLst/>
              <a:cxnLst/>
              <a:rect l="l" t="t" r="r" b="b"/>
              <a:pathLst>
                <a:path w="5120640" h="97536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b="-5229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512064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XOR Encryption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31,106 rows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019037" y="2367277"/>
            <a:ext cx="3860797" cy="2397757"/>
            <a:chOff x="0" y="0"/>
            <a:chExt cx="5147729" cy="3197009"/>
          </a:xfrm>
        </p:grpSpPr>
        <p:sp>
          <p:nvSpPr>
            <p:cNvPr id="18" name="Freeform 18"/>
            <p:cNvSpPr/>
            <p:nvPr/>
          </p:nvSpPr>
          <p:spPr>
            <a:xfrm>
              <a:off x="13589" y="13589"/>
              <a:ext cx="5120640" cy="3169920"/>
            </a:xfrm>
            <a:custGeom>
              <a:avLst/>
              <a:gdLst/>
              <a:ahLst/>
              <a:cxnLst/>
              <a:rect l="l" t="t" r="r" b="b"/>
              <a:pathLst>
                <a:path w="5120640" h="3169920">
                  <a:moveTo>
                    <a:pt x="0" y="0"/>
                  </a:moveTo>
                  <a:lnTo>
                    <a:pt x="5120640" y="0"/>
                  </a:lnTo>
                  <a:lnTo>
                    <a:pt x="51206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5147818" cy="3197098"/>
            </a:xfrm>
            <a:custGeom>
              <a:avLst/>
              <a:gdLst/>
              <a:ahLst/>
              <a:cxnLst/>
              <a:rect l="l" t="t" r="r" b="b"/>
              <a:pathLst>
                <a:path w="5147818" h="3197098">
                  <a:moveTo>
                    <a:pt x="13589" y="0"/>
                  </a:moveTo>
                  <a:lnTo>
                    <a:pt x="5134229" y="0"/>
                  </a:lnTo>
                  <a:cubicBezTo>
                    <a:pt x="5141722" y="0"/>
                    <a:pt x="5147818" y="6096"/>
                    <a:pt x="5147818" y="13589"/>
                  </a:cubicBezTo>
                  <a:lnTo>
                    <a:pt x="5147818" y="3183509"/>
                  </a:lnTo>
                  <a:cubicBezTo>
                    <a:pt x="5147818" y="3191002"/>
                    <a:pt x="5141722" y="3197098"/>
                    <a:pt x="5134229" y="3197098"/>
                  </a:cubicBezTo>
                  <a:lnTo>
                    <a:pt x="13589" y="3197098"/>
                  </a:lnTo>
                  <a:cubicBezTo>
                    <a:pt x="6096" y="3197098"/>
                    <a:pt x="0" y="3191002"/>
                    <a:pt x="0" y="31835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183509"/>
                  </a:lnTo>
                  <a:lnTo>
                    <a:pt x="13589" y="3183509"/>
                  </a:lnTo>
                  <a:lnTo>
                    <a:pt x="13589" y="3169920"/>
                  </a:lnTo>
                  <a:lnTo>
                    <a:pt x="5134229" y="3169920"/>
                  </a:lnTo>
                  <a:lnTo>
                    <a:pt x="5134229" y="3183509"/>
                  </a:lnTo>
                  <a:lnTo>
                    <a:pt x="5120640" y="3183509"/>
                  </a:lnTo>
                  <a:lnTo>
                    <a:pt x="5120640" y="13589"/>
                  </a:lnTo>
                  <a:lnTo>
                    <a:pt x="5134229" y="13589"/>
                  </a:lnTo>
                  <a:lnTo>
                    <a:pt x="51342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1B9E6D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5029200" y="2468880"/>
            <a:ext cx="3840480" cy="1188720"/>
            <a:chOff x="0" y="0"/>
            <a:chExt cx="5120640" cy="15849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120640" cy="1584960"/>
            </a:xfrm>
            <a:custGeom>
              <a:avLst/>
              <a:gdLst/>
              <a:ahLst/>
              <a:cxnLst/>
              <a:rect l="l" t="t" r="r" b="b"/>
              <a:pathLst>
                <a:path w="5120640" h="158496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51" b="-12951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512064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1B9E6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&lt;1 ms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029200" y="3840480"/>
            <a:ext cx="3840480" cy="731520"/>
            <a:chOff x="0" y="0"/>
            <a:chExt cx="5120640" cy="97536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120640" cy="975360"/>
            </a:xfrm>
            <a:custGeom>
              <a:avLst/>
              <a:gdLst/>
              <a:ahLst/>
              <a:cxnLst/>
              <a:rect l="l" t="t" r="r" b="b"/>
              <a:pathLst>
                <a:path w="5120640" h="97536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b="-5229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512064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XOR Decryption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31,106 rows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316717" y="2367277"/>
            <a:ext cx="3860797" cy="2397757"/>
            <a:chOff x="0" y="0"/>
            <a:chExt cx="5147729" cy="3197009"/>
          </a:xfrm>
        </p:grpSpPr>
        <p:sp>
          <p:nvSpPr>
            <p:cNvPr id="27" name="Freeform 27"/>
            <p:cNvSpPr/>
            <p:nvPr/>
          </p:nvSpPr>
          <p:spPr>
            <a:xfrm>
              <a:off x="13589" y="13589"/>
              <a:ext cx="5120640" cy="3169920"/>
            </a:xfrm>
            <a:custGeom>
              <a:avLst/>
              <a:gdLst/>
              <a:ahLst/>
              <a:cxnLst/>
              <a:rect l="l" t="t" r="r" b="b"/>
              <a:pathLst>
                <a:path w="5120640" h="3169920">
                  <a:moveTo>
                    <a:pt x="0" y="0"/>
                  </a:moveTo>
                  <a:lnTo>
                    <a:pt x="5120640" y="0"/>
                  </a:lnTo>
                  <a:lnTo>
                    <a:pt x="51206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5147818" cy="3197098"/>
            </a:xfrm>
            <a:custGeom>
              <a:avLst/>
              <a:gdLst/>
              <a:ahLst/>
              <a:cxnLst/>
              <a:rect l="l" t="t" r="r" b="b"/>
              <a:pathLst>
                <a:path w="5147818" h="3197098">
                  <a:moveTo>
                    <a:pt x="13589" y="0"/>
                  </a:moveTo>
                  <a:lnTo>
                    <a:pt x="5134229" y="0"/>
                  </a:lnTo>
                  <a:cubicBezTo>
                    <a:pt x="5141722" y="0"/>
                    <a:pt x="5147818" y="6096"/>
                    <a:pt x="5147818" y="13589"/>
                  </a:cubicBezTo>
                  <a:lnTo>
                    <a:pt x="5147818" y="3183509"/>
                  </a:lnTo>
                  <a:cubicBezTo>
                    <a:pt x="5147818" y="3191002"/>
                    <a:pt x="5141722" y="3197098"/>
                    <a:pt x="5134229" y="3197098"/>
                  </a:cubicBezTo>
                  <a:lnTo>
                    <a:pt x="13589" y="3197098"/>
                  </a:lnTo>
                  <a:cubicBezTo>
                    <a:pt x="6096" y="3197098"/>
                    <a:pt x="0" y="3191002"/>
                    <a:pt x="0" y="31835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183509"/>
                  </a:lnTo>
                  <a:lnTo>
                    <a:pt x="13589" y="3183509"/>
                  </a:lnTo>
                  <a:lnTo>
                    <a:pt x="13589" y="3169920"/>
                  </a:lnTo>
                  <a:lnTo>
                    <a:pt x="5134229" y="3169920"/>
                  </a:lnTo>
                  <a:lnTo>
                    <a:pt x="5134229" y="3183509"/>
                  </a:lnTo>
                  <a:lnTo>
                    <a:pt x="5120640" y="3183509"/>
                  </a:lnTo>
                  <a:lnTo>
                    <a:pt x="5120640" y="13589"/>
                  </a:lnTo>
                  <a:lnTo>
                    <a:pt x="5134229" y="13589"/>
                  </a:lnTo>
                  <a:lnTo>
                    <a:pt x="51342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D98B20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9326880" y="2468880"/>
            <a:ext cx="3840480" cy="1188720"/>
            <a:chOff x="0" y="0"/>
            <a:chExt cx="5120640" cy="15849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120640" cy="1584960"/>
            </a:xfrm>
            <a:custGeom>
              <a:avLst/>
              <a:gdLst/>
              <a:ahLst/>
              <a:cxnLst/>
              <a:rect l="l" t="t" r="r" b="b"/>
              <a:pathLst>
                <a:path w="5120640" h="1584960">
                  <a:moveTo>
                    <a:pt x="0" y="0"/>
                  </a:moveTo>
                  <a:lnTo>
                    <a:pt x="5120640" y="0"/>
                  </a:lnTo>
                  <a:lnTo>
                    <a:pt x="512064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951" b="-12951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512064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D98B20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~1 ms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9326880" y="3840480"/>
            <a:ext cx="3840480" cy="731520"/>
            <a:chOff x="0" y="0"/>
            <a:chExt cx="5120640" cy="97536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120640" cy="975360"/>
            </a:xfrm>
            <a:custGeom>
              <a:avLst/>
              <a:gdLst/>
              <a:ahLst/>
              <a:cxnLst/>
              <a:rect l="l" t="t" r="r" b="b"/>
              <a:pathLst>
                <a:path w="5120640" h="97536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b="-5229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512064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Gaussian Encryption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31,106 rows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3614397" y="2367277"/>
            <a:ext cx="3860797" cy="2397757"/>
            <a:chOff x="0" y="0"/>
            <a:chExt cx="5147729" cy="3197009"/>
          </a:xfrm>
        </p:grpSpPr>
        <p:sp>
          <p:nvSpPr>
            <p:cNvPr id="36" name="Freeform 36"/>
            <p:cNvSpPr/>
            <p:nvPr/>
          </p:nvSpPr>
          <p:spPr>
            <a:xfrm>
              <a:off x="13589" y="13589"/>
              <a:ext cx="5120640" cy="3169920"/>
            </a:xfrm>
            <a:custGeom>
              <a:avLst/>
              <a:gdLst/>
              <a:ahLst/>
              <a:cxnLst/>
              <a:rect l="l" t="t" r="r" b="b"/>
              <a:pathLst>
                <a:path w="5120640" h="3169920">
                  <a:moveTo>
                    <a:pt x="0" y="0"/>
                  </a:moveTo>
                  <a:lnTo>
                    <a:pt x="5120640" y="0"/>
                  </a:lnTo>
                  <a:lnTo>
                    <a:pt x="5120640" y="3169920"/>
                  </a:lnTo>
                  <a:lnTo>
                    <a:pt x="0" y="31699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5147818" cy="3197098"/>
            </a:xfrm>
            <a:custGeom>
              <a:avLst/>
              <a:gdLst/>
              <a:ahLst/>
              <a:cxnLst/>
              <a:rect l="l" t="t" r="r" b="b"/>
              <a:pathLst>
                <a:path w="5147818" h="3197098">
                  <a:moveTo>
                    <a:pt x="13589" y="0"/>
                  </a:moveTo>
                  <a:lnTo>
                    <a:pt x="5134229" y="0"/>
                  </a:lnTo>
                  <a:cubicBezTo>
                    <a:pt x="5141722" y="0"/>
                    <a:pt x="5147818" y="6096"/>
                    <a:pt x="5147818" y="13589"/>
                  </a:cubicBezTo>
                  <a:lnTo>
                    <a:pt x="5147818" y="3183509"/>
                  </a:lnTo>
                  <a:cubicBezTo>
                    <a:pt x="5147818" y="3191002"/>
                    <a:pt x="5141722" y="3197098"/>
                    <a:pt x="5134229" y="3197098"/>
                  </a:cubicBezTo>
                  <a:lnTo>
                    <a:pt x="13589" y="3197098"/>
                  </a:lnTo>
                  <a:cubicBezTo>
                    <a:pt x="6096" y="3197098"/>
                    <a:pt x="0" y="3191002"/>
                    <a:pt x="0" y="3183509"/>
                  </a:cubicBezTo>
                  <a:lnTo>
                    <a:pt x="0" y="13589"/>
                  </a:lnTo>
                  <a:cubicBezTo>
                    <a:pt x="0" y="6096"/>
                    <a:pt x="6096" y="0"/>
                    <a:pt x="13589" y="0"/>
                  </a:cubicBezTo>
                  <a:moveTo>
                    <a:pt x="13589" y="27051"/>
                  </a:moveTo>
                  <a:lnTo>
                    <a:pt x="13589" y="13589"/>
                  </a:lnTo>
                  <a:lnTo>
                    <a:pt x="27051" y="13589"/>
                  </a:lnTo>
                  <a:lnTo>
                    <a:pt x="27051" y="3183509"/>
                  </a:lnTo>
                  <a:lnTo>
                    <a:pt x="13589" y="3183509"/>
                  </a:lnTo>
                  <a:lnTo>
                    <a:pt x="13589" y="3169920"/>
                  </a:lnTo>
                  <a:lnTo>
                    <a:pt x="5134229" y="3169920"/>
                  </a:lnTo>
                  <a:lnTo>
                    <a:pt x="5134229" y="3183509"/>
                  </a:lnTo>
                  <a:lnTo>
                    <a:pt x="5120640" y="3183509"/>
                  </a:lnTo>
                  <a:lnTo>
                    <a:pt x="5120640" y="13589"/>
                  </a:lnTo>
                  <a:lnTo>
                    <a:pt x="5134229" y="13589"/>
                  </a:lnTo>
                  <a:lnTo>
                    <a:pt x="5134229" y="27051"/>
                  </a:lnTo>
                  <a:lnTo>
                    <a:pt x="13589" y="27051"/>
                  </a:lnTo>
                  <a:close/>
                </a:path>
              </a:pathLst>
            </a:custGeom>
            <a:solidFill>
              <a:srgbClr val="2586C4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3624560" y="2367277"/>
            <a:ext cx="3840480" cy="1645920"/>
            <a:chOff x="0" y="0"/>
            <a:chExt cx="5120640" cy="219456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5120640" cy="2194560"/>
            </a:xfrm>
            <a:custGeom>
              <a:avLst/>
              <a:gdLst/>
              <a:ahLst/>
              <a:cxnLst/>
              <a:rect l="l" t="t" r="r" b="b"/>
              <a:pathLst>
                <a:path w="5120640" h="2194560">
                  <a:moveTo>
                    <a:pt x="0" y="0"/>
                  </a:moveTo>
                  <a:lnTo>
                    <a:pt x="5120640" y="0"/>
                  </a:lnTo>
                  <a:lnTo>
                    <a:pt x="51206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353" b="18423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9525"/>
              <a:ext cx="5120640" cy="22040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2586C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0 errors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3624560" y="3840480"/>
            <a:ext cx="3840480" cy="731520"/>
            <a:chOff x="0" y="0"/>
            <a:chExt cx="5120640" cy="97536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5120640" cy="975360"/>
            </a:xfrm>
            <a:custGeom>
              <a:avLst/>
              <a:gdLst/>
              <a:ahLst/>
              <a:cxnLst/>
              <a:rect l="l" t="t" r="r" b="b"/>
              <a:pathLst>
                <a:path w="5120640" h="975360">
                  <a:moveTo>
                    <a:pt x="0" y="0"/>
                  </a:moveTo>
                  <a:lnTo>
                    <a:pt x="5120640" y="0"/>
                  </a:lnTo>
                  <a:lnTo>
                    <a:pt x="512064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2296" b="-52296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5120640" cy="10134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XOR Restoration</a:t>
              </a:r>
            </a:p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Max Error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25167" y="5297167"/>
            <a:ext cx="16837657" cy="2755897"/>
            <a:chOff x="0" y="0"/>
            <a:chExt cx="22450209" cy="3674529"/>
          </a:xfrm>
        </p:grpSpPr>
        <p:sp>
          <p:nvSpPr>
            <p:cNvPr id="45" name="Freeform 45"/>
            <p:cNvSpPr/>
            <p:nvPr/>
          </p:nvSpPr>
          <p:spPr>
            <a:xfrm>
              <a:off x="8509" y="8509"/>
              <a:ext cx="22433281" cy="3657600"/>
            </a:xfrm>
            <a:custGeom>
              <a:avLst/>
              <a:gdLst/>
              <a:ahLst/>
              <a:cxnLst/>
              <a:rect l="l" t="t" r="r" b="b"/>
              <a:pathLst>
                <a:path w="22433281" h="3657600">
                  <a:moveTo>
                    <a:pt x="0" y="0"/>
                  </a:moveTo>
                  <a:lnTo>
                    <a:pt x="22433281" y="0"/>
                  </a:lnTo>
                  <a:lnTo>
                    <a:pt x="22433281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22450298" cy="3674618"/>
            </a:xfrm>
            <a:custGeom>
              <a:avLst/>
              <a:gdLst/>
              <a:ahLst/>
              <a:cxnLst/>
              <a:rect l="l" t="t" r="r" b="b"/>
              <a:pathLst>
                <a:path w="22450298" h="3674618">
                  <a:moveTo>
                    <a:pt x="8509" y="0"/>
                  </a:moveTo>
                  <a:lnTo>
                    <a:pt x="22441790" y="0"/>
                  </a:lnTo>
                  <a:cubicBezTo>
                    <a:pt x="22446489" y="0"/>
                    <a:pt x="22450298" y="3810"/>
                    <a:pt x="22450298" y="8509"/>
                  </a:cubicBezTo>
                  <a:lnTo>
                    <a:pt x="22450298" y="3666109"/>
                  </a:lnTo>
                  <a:cubicBezTo>
                    <a:pt x="22450298" y="3670808"/>
                    <a:pt x="22446489" y="3674618"/>
                    <a:pt x="22441790" y="3674618"/>
                  </a:cubicBezTo>
                  <a:lnTo>
                    <a:pt x="8509" y="3674618"/>
                  </a:lnTo>
                  <a:cubicBezTo>
                    <a:pt x="3810" y="3674618"/>
                    <a:pt x="0" y="3670808"/>
                    <a:pt x="0" y="3666109"/>
                  </a:cubicBezTo>
                  <a:lnTo>
                    <a:pt x="0" y="8509"/>
                  </a:lnTo>
                  <a:cubicBezTo>
                    <a:pt x="0" y="3810"/>
                    <a:pt x="3810" y="0"/>
                    <a:pt x="8509" y="0"/>
                  </a:cubicBezTo>
                  <a:moveTo>
                    <a:pt x="8509" y="16891"/>
                  </a:moveTo>
                  <a:lnTo>
                    <a:pt x="8509" y="8509"/>
                  </a:lnTo>
                  <a:lnTo>
                    <a:pt x="17018" y="8509"/>
                  </a:lnTo>
                  <a:lnTo>
                    <a:pt x="17018" y="3666109"/>
                  </a:lnTo>
                  <a:lnTo>
                    <a:pt x="8509" y="3666109"/>
                  </a:lnTo>
                  <a:lnTo>
                    <a:pt x="8509" y="3657600"/>
                  </a:lnTo>
                  <a:lnTo>
                    <a:pt x="22441790" y="3657600"/>
                  </a:lnTo>
                  <a:lnTo>
                    <a:pt x="22441790" y="3666109"/>
                  </a:lnTo>
                  <a:lnTo>
                    <a:pt x="22433280" y="3666109"/>
                  </a:lnTo>
                  <a:lnTo>
                    <a:pt x="22433280" y="8509"/>
                  </a:lnTo>
                  <a:lnTo>
                    <a:pt x="22441790" y="8509"/>
                  </a:lnTo>
                  <a:lnTo>
                    <a:pt x="22441790" y="17018"/>
                  </a:lnTo>
                  <a:lnTo>
                    <a:pt x="8509" y="17018"/>
                  </a:lnTo>
                  <a:close/>
                </a:path>
              </a:pathLst>
            </a:custGeom>
            <a:solidFill>
              <a:srgbClr val="D5D9E2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731520" y="5303520"/>
            <a:ext cx="128016" cy="2743200"/>
            <a:chOff x="0" y="0"/>
            <a:chExt cx="170688" cy="365760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170688" cy="3657600"/>
            </a:xfrm>
            <a:custGeom>
              <a:avLst/>
              <a:gdLst/>
              <a:ahLst/>
              <a:cxnLst/>
              <a:rect l="l" t="t" r="r" b="b"/>
              <a:pathLst>
                <a:path w="170688" h="3657600">
                  <a:moveTo>
                    <a:pt x="0" y="0"/>
                  </a:moveTo>
                  <a:lnTo>
                    <a:pt x="170688" y="0"/>
                  </a:lnTo>
                  <a:lnTo>
                    <a:pt x="170688" y="3657600"/>
                  </a:lnTo>
                  <a:lnTo>
                    <a:pt x="0" y="3657600"/>
                  </a:lnTo>
                  <a:close/>
                </a:path>
              </a:pathLst>
            </a:custGeom>
            <a:solidFill>
              <a:srgbClr val="1B9E6D"/>
            </a:solidFill>
          </p:spPr>
        </p:sp>
      </p:grpSp>
      <p:grpSp>
        <p:nvGrpSpPr>
          <p:cNvPr id="49" name="Group 49"/>
          <p:cNvGrpSpPr/>
          <p:nvPr/>
        </p:nvGrpSpPr>
        <p:grpSpPr>
          <a:xfrm>
            <a:off x="1188720" y="5486400"/>
            <a:ext cx="16093440" cy="585216"/>
            <a:chOff x="0" y="0"/>
            <a:chExt cx="21457920" cy="780288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1457920" cy="780288"/>
            </a:xfrm>
            <a:custGeom>
              <a:avLst/>
              <a:gdLst/>
              <a:ahLst/>
              <a:cxnLst/>
              <a:rect l="l" t="t" r="r" b="b"/>
              <a:pathLst>
                <a:path w="21457920" h="780288">
                  <a:moveTo>
                    <a:pt x="0" y="0"/>
                  </a:moveTo>
                  <a:lnTo>
                    <a:pt x="21457920" y="0"/>
                  </a:lnTo>
                  <a:lnTo>
                    <a:pt x="2145792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5838" b="-485838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21457920" cy="78028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1B9E6D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Why this matters for IIoT deployment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188720" y="6126480"/>
            <a:ext cx="15910560" cy="1645920"/>
            <a:chOff x="0" y="0"/>
            <a:chExt cx="21214080" cy="2194560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21214080" cy="2194560"/>
            </a:xfrm>
            <a:custGeom>
              <a:avLst/>
              <a:gdLst/>
              <a:ahLst/>
              <a:cxnLst/>
              <a:rect l="l" t="t" r="r" b="b"/>
              <a:pathLst>
                <a:path w="21214080" h="2194560">
                  <a:moveTo>
                    <a:pt x="0" y="0"/>
                  </a:moveTo>
                  <a:lnTo>
                    <a:pt x="21214080" y="0"/>
                  </a:lnTo>
                  <a:lnTo>
                    <a:pt x="212140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8355" b="-138355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38100"/>
              <a:ext cx="21214080" cy="22326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XOR is a single CPU instruction — processes 31K records in under 1 millisecond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Suitable for resource-constrained PLCs and edge devices (no cryptographic coprocessor needed)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AES-128 requires ~10-100× more computation per record — benchmarks coming in Phase 2</a:t>
              </a:r>
            </a:p>
            <a:p>
              <a:pPr marL="579120" lvl="1" indent="-289560" algn="l">
                <a:lnSpc>
                  <a:spcPts val="2879"/>
                </a:lnSpc>
                <a:buFont typeface="Arial"/>
                <a:buChar char="•"/>
              </a:pPr>
              <a:r>
                <a:rPr lang="en-US" sz="2400">
                  <a:solidFill>
                    <a:srgbClr val="3C3C3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Sub-microsecond per-sample latency makes real-time SCADA protection feasible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31520" y="8412480"/>
            <a:ext cx="16824960" cy="1097280"/>
            <a:chOff x="0" y="0"/>
            <a:chExt cx="22433280" cy="14630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22433280" cy="1463040"/>
            </a:xfrm>
            <a:custGeom>
              <a:avLst/>
              <a:gdLst/>
              <a:ahLst/>
              <a:cxnLst/>
              <a:rect l="l" t="t" r="r" b="b"/>
              <a:pathLst>
                <a:path w="22433280" h="1463040">
                  <a:moveTo>
                    <a:pt x="0" y="0"/>
                  </a:moveTo>
                  <a:lnTo>
                    <a:pt x="22433280" y="0"/>
                  </a:lnTo>
                  <a:lnTo>
                    <a:pt x="22433280" y="1463040"/>
                  </a:lnTo>
                  <a:lnTo>
                    <a:pt x="0" y="1463040"/>
                  </a:lnTo>
                  <a:close/>
                </a:path>
              </a:pathLst>
            </a:custGeom>
            <a:solidFill>
              <a:srgbClr val="1A2744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914400" y="8412480"/>
            <a:ext cx="16459200" cy="1097280"/>
            <a:chOff x="0" y="0"/>
            <a:chExt cx="21945600" cy="146304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21945600" cy="1463040"/>
            </a:xfrm>
            <a:custGeom>
              <a:avLst/>
              <a:gdLst/>
              <a:ahLst/>
              <a:cxnLst/>
              <a:rect l="l" t="t" r="r" b="b"/>
              <a:pathLst>
                <a:path w="21945600" h="146304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21945600" cy="15106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8C4E0"/>
                  </a:solidFill>
                  <a:latin typeface="Consolas"/>
                  <a:ea typeface="Consolas"/>
                  <a:cs typeface="Consolas"/>
                  <a:sym typeface="Consolas"/>
                </a:rPr>
                <a:t>Time per sample:  XOR ≈ 0.03 µs   |   Gaussian ≈ 0.03 µs   |   AES-128 ≈ 1–5 µs (to be benchmarked)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97687" y="1992140"/>
            <a:ext cx="15692626" cy="7266160"/>
          </a:xfrm>
          <a:custGeom>
            <a:avLst/>
            <a:gdLst/>
            <a:ahLst/>
            <a:cxnLst/>
            <a:rect l="l" t="t" r="r" b="b"/>
            <a:pathLst>
              <a:path w="15692626" h="7266160">
                <a:moveTo>
                  <a:pt x="0" y="0"/>
                </a:moveTo>
                <a:lnTo>
                  <a:pt x="15692626" y="0"/>
                </a:lnTo>
                <a:lnTo>
                  <a:pt x="15692626" y="7266160"/>
                </a:lnTo>
                <a:lnTo>
                  <a:pt x="0" y="7266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444" r="-10000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96873" y="264524"/>
            <a:ext cx="16093440" cy="1759472"/>
            <a:chOff x="0" y="0"/>
            <a:chExt cx="21457920" cy="2345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457920" cy="2345962"/>
            </a:xfrm>
            <a:custGeom>
              <a:avLst/>
              <a:gdLst/>
              <a:ahLst/>
              <a:cxnLst/>
              <a:rect l="l" t="t" r="r" b="b"/>
              <a:pathLst>
                <a:path w="21457920" h="2345962">
                  <a:moveTo>
                    <a:pt x="0" y="0"/>
                  </a:moveTo>
                  <a:lnTo>
                    <a:pt x="21457920" y="0"/>
                  </a:lnTo>
                  <a:lnTo>
                    <a:pt x="21457920" y="2345962"/>
                  </a:lnTo>
                  <a:lnTo>
                    <a:pt x="0" y="23459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444" b="-112005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21457920" cy="23554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XOR (16 bit) vs XOR (64 bit) vs Gaussian: Side-by-Side Effectiveness Comparison 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2023995"/>
            <a:ext cx="16230600" cy="7599708"/>
          </a:xfrm>
          <a:custGeom>
            <a:avLst/>
            <a:gdLst/>
            <a:ahLst/>
            <a:cxnLst/>
            <a:rect l="l" t="t" r="r" b="b"/>
            <a:pathLst>
              <a:path w="16230600" h="7599708">
                <a:moveTo>
                  <a:pt x="0" y="0"/>
                </a:moveTo>
                <a:lnTo>
                  <a:pt x="16230600" y="0"/>
                </a:lnTo>
                <a:lnTo>
                  <a:pt x="16230600" y="7599708"/>
                </a:lnTo>
                <a:lnTo>
                  <a:pt x="0" y="75997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1290" t="-6086" r="-451" b="-1089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96873" y="264524"/>
            <a:ext cx="16093440" cy="1759472"/>
            <a:chOff x="0" y="0"/>
            <a:chExt cx="21457920" cy="23459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1457920" cy="2345962"/>
            </a:xfrm>
            <a:custGeom>
              <a:avLst/>
              <a:gdLst/>
              <a:ahLst/>
              <a:cxnLst/>
              <a:rect l="l" t="t" r="r" b="b"/>
              <a:pathLst>
                <a:path w="21457920" h="2345962">
                  <a:moveTo>
                    <a:pt x="0" y="0"/>
                  </a:moveTo>
                  <a:lnTo>
                    <a:pt x="21457920" y="0"/>
                  </a:lnTo>
                  <a:lnTo>
                    <a:pt x="21457920" y="2345962"/>
                  </a:lnTo>
                  <a:lnTo>
                    <a:pt x="0" y="234596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444" b="-112005"/>
              </a:stretch>
            </a:blipFill>
          </p:spPr>
        </p:sp>
        <p:sp>
          <p:nvSpPr>
            <p:cNvPr id="5" name="TextBox 5"/>
            <p:cNvSpPr txBox="1"/>
            <p:nvPr/>
          </p:nvSpPr>
          <p:spPr>
            <a:xfrm>
              <a:off x="0" y="-9525"/>
              <a:ext cx="21457920" cy="235548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240"/>
                </a:lnSpc>
              </a:pPr>
              <a:r>
                <a:rPr lang="en-US" sz="5200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XOR (16 bit) vs XOR (64 bit) vs Gaussian: Side-by-Side Effectiveness Comparison 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7280" y="548640"/>
            <a:ext cx="16093440" cy="1188720"/>
            <a:chOff x="0" y="0"/>
            <a:chExt cx="2145792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584960"/>
            </a:xfrm>
            <a:custGeom>
              <a:avLst/>
              <a:gdLst/>
              <a:ahLst/>
              <a:cxnLst/>
              <a:rect l="l" t="t" r="r" b="b"/>
              <a:pathLst>
                <a:path w="21457920" h="158496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797" b="-21379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Encryption Method Comparison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1805323"/>
            <a:ext cx="16671234" cy="8084738"/>
            <a:chOff x="0" y="0"/>
            <a:chExt cx="14162574" cy="6868160"/>
          </a:xfrm>
        </p:grpSpPr>
        <p:sp>
          <p:nvSpPr>
            <p:cNvPr id="6" name="Freeform 6"/>
            <p:cNvSpPr/>
            <p:nvPr/>
          </p:nvSpPr>
          <p:spPr>
            <a:xfrm>
              <a:off x="39123" y="20320"/>
              <a:ext cx="14084328" cy="6827520"/>
            </a:xfrm>
            <a:custGeom>
              <a:avLst/>
              <a:gdLst/>
              <a:ahLst/>
              <a:cxnLst/>
              <a:rect l="l" t="t" r="r" b="b"/>
              <a:pathLst>
                <a:path w="14084328" h="6827520">
                  <a:moveTo>
                    <a:pt x="0" y="0"/>
                  </a:moveTo>
                  <a:lnTo>
                    <a:pt x="14084328" y="0"/>
                  </a:lnTo>
                  <a:lnTo>
                    <a:pt x="14084328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4162574" cy="6868160"/>
            </a:xfrm>
            <a:custGeom>
              <a:avLst/>
              <a:gdLst/>
              <a:ahLst/>
              <a:cxnLst/>
              <a:rect l="l" t="t" r="r" b="b"/>
              <a:pathLst>
                <a:path w="14162574" h="6868160">
                  <a:moveTo>
                    <a:pt x="39123" y="0"/>
                  </a:moveTo>
                  <a:lnTo>
                    <a:pt x="14123451" y="0"/>
                  </a:lnTo>
                  <a:cubicBezTo>
                    <a:pt x="14144968" y="0"/>
                    <a:pt x="14162574" y="9144"/>
                    <a:pt x="14162574" y="20320"/>
                  </a:cubicBezTo>
                  <a:lnTo>
                    <a:pt x="14162574" y="6847840"/>
                  </a:lnTo>
                  <a:cubicBezTo>
                    <a:pt x="14162574" y="6859016"/>
                    <a:pt x="14144968" y="6868160"/>
                    <a:pt x="14123451" y="6868160"/>
                  </a:cubicBezTo>
                  <a:lnTo>
                    <a:pt x="39123" y="6868160"/>
                  </a:lnTo>
                  <a:cubicBezTo>
                    <a:pt x="17605" y="6868160"/>
                    <a:pt x="0" y="6859016"/>
                    <a:pt x="0" y="6847840"/>
                  </a:cubicBezTo>
                  <a:lnTo>
                    <a:pt x="0" y="20320"/>
                  </a:lnTo>
                  <a:cubicBezTo>
                    <a:pt x="0" y="9144"/>
                    <a:pt x="17605" y="0"/>
                    <a:pt x="39123" y="0"/>
                  </a:cubicBezTo>
                  <a:moveTo>
                    <a:pt x="39123" y="40640"/>
                  </a:moveTo>
                  <a:lnTo>
                    <a:pt x="39123" y="20320"/>
                  </a:lnTo>
                  <a:lnTo>
                    <a:pt x="78246" y="20320"/>
                  </a:lnTo>
                  <a:lnTo>
                    <a:pt x="78246" y="6847840"/>
                  </a:lnTo>
                  <a:lnTo>
                    <a:pt x="39123" y="6847840"/>
                  </a:lnTo>
                  <a:lnTo>
                    <a:pt x="39123" y="6827520"/>
                  </a:lnTo>
                  <a:lnTo>
                    <a:pt x="14123451" y="6827520"/>
                  </a:lnTo>
                  <a:lnTo>
                    <a:pt x="14123451" y="6847840"/>
                  </a:lnTo>
                  <a:lnTo>
                    <a:pt x="14084328" y="6847840"/>
                  </a:lnTo>
                  <a:lnTo>
                    <a:pt x="14084328" y="20320"/>
                  </a:lnTo>
                  <a:lnTo>
                    <a:pt x="14123451" y="20320"/>
                  </a:lnTo>
                  <a:lnTo>
                    <a:pt x="14123451" y="40640"/>
                  </a:lnTo>
                  <a:lnTo>
                    <a:pt x="39123" y="40640"/>
                  </a:lnTo>
                  <a:close/>
                </a:path>
              </a:pathLst>
            </a:custGeom>
            <a:solidFill>
              <a:srgbClr val="2586C4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251483" y="7857487"/>
            <a:ext cx="16311340" cy="1932937"/>
            <a:chOff x="0" y="0"/>
            <a:chExt cx="21748454" cy="2577249"/>
          </a:xfrm>
        </p:grpSpPr>
        <p:sp>
          <p:nvSpPr>
            <p:cNvPr id="9" name="Freeform 9"/>
            <p:cNvSpPr/>
            <p:nvPr/>
          </p:nvSpPr>
          <p:spPr>
            <a:xfrm>
              <a:off x="8243" y="8509"/>
              <a:ext cx="21732055" cy="2560320"/>
            </a:xfrm>
            <a:custGeom>
              <a:avLst/>
              <a:gdLst/>
              <a:ahLst/>
              <a:cxnLst/>
              <a:rect l="l" t="t" r="r" b="b"/>
              <a:pathLst>
                <a:path w="21732055" h="2560320">
                  <a:moveTo>
                    <a:pt x="0" y="0"/>
                  </a:moveTo>
                  <a:lnTo>
                    <a:pt x="21732055" y="0"/>
                  </a:lnTo>
                  <a:lnTo>
                    <a:pt x="21732055" y="2560320"/>
                  </a:lnTo>
                  <a:lnTo>
                    <a:pt x="0" y="256032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1748542" cy="2577338"/>
            </a:xfrm>
            <a:custGeom>
              <a:avLst/>
              <a:gdLst/>
              <a:ahLst/>
              <a:cxnLst/>
              <a:rect l="l" t="t" r="r" b="b"/>
              <a:pathLst>
                <a:path w="21748542" h="2577338">
                  <a:moveTo>
                    <a:pt x="8243" y="0"/>
                  </a:moveTo>
                  <a:lnTo>
                    <a:pt x="21740298" y="0"/>
                  </a:lnTo>
                  <a:cubicBezTo>
                    <a:pt x="21744849" y="0"/>
                    <a:pt x="21748542" y="3810"/>
                    <a:pt x="21748542" y="8509"/>
                  </a:cubicBezTo>
                  <a:lnTo>
                    <a:pt x="21748542" y="2568829"/>
                  </a:lnTo>
                  <a:cubicBezTo>
                    <a:pt x="21748542" y="2573528"/>
                    <a:pt x="21744849" y="2577338"/>
                    <a:pt x="21740298" y="2577338"/>
                  </a:cubicBezTo>
                  <a:lnTo>
                    <a:pt x="8243" y="2577338"/>
                  </a:lnTo>
                  <a:cubicBezTo>
                    <a:pt x="3691" y="2577338"/>
                    <a:pt x="0" y="2573528"/>
                    <a:pt x="0" y="2568829"/>
                  </a:cubicBezTo>
                  <a:lnTo>
                    <a:pt x="0" y="8509"/>
                  </a:lnTo>
                  <a:cubicBezTo>
                    <a:pt x="0" y="3810"/>
                    <a:pt x="3691" y="0"/>
                    <a:pt x="8243" y="0"/>
                  </a:cubicBezTo>
                  <a:moveTo>
                    <a:pt x="8243" y="16891"/>
                  </a:moveTo>
                  <a:lnTo>
                    <a:pt x="8243" y="8509"/>
                  </a:lnTo>
                  <a:lnTo>
                    <a:pt x="16486" y="8509"/>
                  </a:lnTo>
                  <a:lnTo>
                    <a:pt x="16486" y="2568829"/>
                  </a:lnTo>
                  <a:lnTo>
                    <a:pt x="8243" y="2568829"/>
                  </a:lnTo>
                  <a:lnTo>
                    <a:pt x="8243" y="2560320"/>
                  </a:lnTo>
                  <a:lnTo>
                    <a:pt x="21740298" y="2560320"/>
                  </a:lnTo>
                  <a:lnTo>
                    <a:pt x="21740298" y="2568829"/>
                  </a:lnTo>
                  <a:lnTo>
                    <a:pt x="21732055" y="2568829"/>
                  </a:lnTo>
                  <a:lnTo>
                    <a:pt x="21732055" y="8509"/>
                  </a:lnTo>
                  <a:lnTo>
                    <a:pt x="21740298" y="8509"/>
                  </a:lnTo>
                  <a:lnTo>
                    <a:pt x="21740298" y="17018"/>
                  </a:lnTo>
                  <a:lnTo>
                    <a:pt x="8243" y="17018"/>
                  </a:lnTo>
                  <a:close/>
                </a:path>
              </a:pathLst>
            </a:custGeom>
            <a:solidFill>
              <a:srgbClr val="D5D9E2"/>
            </a:solidFill>
          </p:spPr>
        </p:sp>
      </p:grpSp>
      <p:graphicFrame>
        <p:nvGraphicFramePr>
          <p:cNvPr id="11" name="Object 11"/>
          <p:cNvGraphicFramePr/>
          <p:nvPr/>
        </p:nvGraphicFramePr>
        <p:xfrm>
          <a:off x="1425251" y="2067636"/>
          <a:ext cx="7543800" cy="502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9042400" imgH="6527800" progId="Excel.Sheet.12">
                  <p:embed/>
                </p:oleObj>
              </mc:Choice>
              <mc:Fallback>
                <p:oleObj name="Worksheet" r:id="rId4" imgW="9042400" imgH="65278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25251" y="2067636"/>
                        <a:ext cx="7543800" cy="5029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16093440" cy="1188720"/>
            <a:chOff x="0" y="0"/>
            <a:chExt cx="21457920" cy="1584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457920" cy="1584960"/>
            </a:xfrm>
            <a:custGeom>
              <a:avLst/>
              <a:gdLst/>
              <a:ahLst/>
              <a:cxnLst/>
              <a:rect l="l" t="t" r="r" b="b"/>
              <a:pathLst>
                <a:path w="21457920" h="1584960">
                  <a:moveTo>
                    <a:pt x="0" y="0"/>
                  </a:moveTo>
                  <a:lnTo>
                    <a:pt x="21457920" y="0"/>
                  </a:lnTo>
                  <a:lnTo>
                    <a:pt x="2145792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3797" b="-21379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457920" cy="15944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000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What We Plan to achieve in future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02728" y="1143000"/>
            <a:ext cx="15482544" cy="6674895"/>
            <a:chOff x="0" y="0"/>
            <a:chExt cx="20643392" cy="889986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643393" cy="8899860"/>
            </a:xfrm>
            <a:custGeom>
              <a:avLst/>
              <a:gdLst/>
              <a:ahLst/>
              <a:cxnLst/>
              <a:rect l="l" t="t" r="r" b="b"/>
              <a:pathLst>
                <a:path w="20643393" h="8899860">
                  <a:moveTo>
                    <a:pt x="0" y="0"/>
                  </a:moveTo>
                  <a:lnTo>
                    <a:pt x="20643393" y="0"/>
                  </a:lnTo>
                  <a:lnTo>
                    <a:pt x="20643393" y="8899860"/>
                  </a:lnTo>
                  <a:lnTo>
                    <a:pt x="0" y="88998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872" r="5503" b="5345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20643392" cy="88998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endParaRPr/>
            </a:p>
            <a:p>
              <a:pPr algn="l">
                <a:lnSpc>
                  <a:spcPts val="3359"/>
                </a:lnSpc>
              </a:pPr>
              <a:endParaRPr/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Explore combining Gaussian noise with CRC32/HMAC hashing</a:t>
              </a: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Investigate Laplace noise as an alternative to Gaussian for better privacy preservation</a:t>
              </a: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Explore quantization techniques</a:t>
              </a:r>
            </a:p>
            <a:p>
              <a:pPr marL="604519" lvl="1" indent="-302260" algn="l">
                <a:lnSpc>
                  <a:spcPts val="3359"/>
                </a:lnSpc>
                <a:buFont typeface="Arial"/>
                <a:buChar char="•"/>
              </a:pPr>
              <a:r>
                <a:rPr lang="en-US" sz="2799" b="1">
                  <a:solidFill>
                    <a:srgbClr val="1A2744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Study the impact of IEEE 754 floating-point representation, especially modifying the most significant bits</a:t>
              </a:r>
            </a:p>
            <a:p>
              <a:pPr algn="l">
                <a:lnSpc>
                  <a:spcPts val="3359"/>
                </a:lnSpc>
              </a:pPr>
              <a:endParaRPr lang="en-US" sz="2799" b="1">
                <a:solidFill>
                  <a:srgbClr val="1A2744"/>
                </a:solidFill>
                <a:latin typeface="Trebuchet MS Bold"/>
                <a:ea typeface="Trebuchet MS Bold"/>
                <a:cs typeface="Trebuchet MS Bold"/>
                <a:sym typeface="Trebuchet MS Bold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0195560"/>
            <a:ext cx="18288000" cy="91440"/>
            <a:chOff x="0" y="0"/>
            <a:chExt cx="24384000" cy="12192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21920"/>
            </a:xfrm>
            <a:custGeom>
              <a:avLst/>
              <a:gdLst/>
              <a:ahLst/>
              <a:cxnLst/>
              <a:rect l="l" t="t" r="r" b="b"/>
              <a:pathLst>
                <a:path w="24384000" h="121920">
                  <a:moveTo>
                    <a:pt x="0" y="0"/>
                  </a:moveTo>
                  <a:lnTo>
                    <a:pt x="24384000" y="0"/>
                  </a:lnTo>
                  <a:lnTo>
                    <a:pt x="243840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2586C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1828800"/>
            <a:ext cx="16459200" cy="2194560"/>
            <a:chOff x="0" y="0"/>
            <a:chExt cx="21945600" cy="29260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926080"/>
            </a:xfrm>
            <a:custGeom>
              <a:avLst/>
              <a:gdLst/>
              <a:ahLst/>
              <a:cxnLst/>
              <a:rect l="l" t="t" r="r" b="b"/>
              <a:pathLst>
                <a:path w="21945600" h="2926080">
                  <a:moveTo>
                    <a:pt x="0" y="0"/>
                  </a:moveTo>
                  <a:lnTo>
                    <a:pt x="21945600" y="0"/>
                  </a:lnTo>
                  <a:lnTo>
                    <a:pt x="219456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21945600" cy="29356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1519"/>
                </a:lnSpc>
              </a:pPr>
              <a:r>
                <a:rPr lang="en-US" sz="9600" b="1">
                  <a:solidFill>
                    <a:srgbClr val="FFFFFF"/>
                  </a:solidFill>
                  <a:latin typeface="Trebuchet MS Bold"/>
                  <a:ea typeface="Trebuchet MS Bold"/>
                  <a:cs typeface="Trebuchet MS Bold"/>
                  <a:sym typeface="Trebuchet MS Bold"/>
                </a:rPr>
                <a:t>Thank You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400800" y="5669280"/>
            <a:ext cx="5486400" cy="64008"/>
            <a:chOff x="0" y="0"/>
            <a:chExt cx="7315200" cy="8534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7315200" cy="85344"/>
            </a:xfrm>
            <a:custGeom>
              <a:avLst/>
              <a:gdLst/>
              <a:ahLst/>
              <a:cxnLst/>
              <a:rect l="l" t="t" r="r" b="b"/>
              <a:pathLst>
                <a:path w="7315200" h="85344">
                  <a:moveTo>
                    <a:pt x="0" y="0"/>
                  </a:moveTo>
                  <a:lnTo>
                    <a:pt x="7315200" y="0"/>
                  </a:lnTo>
                  <a:lnTo>
                    <a:pt x="7315200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2586C4"/>
            </a:solid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661</Words>
  <Application>Microsoft Office PowerPoint</Application>
  <PresentationFormat>Custom</PresentationFormat>
  <Paragraphs>146</Paragraphs>
  <Slides>12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Trebuchet MS</vt:lpstr>
      <vt:lpstr>Calibri (MS) Italics</vt:lpstr>
      <vt:lpstr>Calibri</vt:lpstr>
      <vt:lpstr>Arial</vt:lpstr>
      <vt:lpstr>Trebuchet MS Bold</vt:lpstr>
      <vt:lpstr>Calibri (MS)</vt:lpstr>
      <vt:lpstr>Consolas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slidefor25.pptx</dc:title>
  <cp:lastModifiedBy>Onichan Naruto</cp:lastModifiedBy>
  <cp:revision>2</cp:revision>
  <dcterms:created xsi:type="dcterms:W3CDTF">2006-08-16T00:00:00Z</dcterms:created>
  <dcterms:modified xsi:type="dcterms:W3CDTF">2026-03-25T06:51:24Z</dcterms:modified>
  <dc:identifier>DAHEyGSoJGM</dc:identifier>
</cp:coreProperties>
</file>